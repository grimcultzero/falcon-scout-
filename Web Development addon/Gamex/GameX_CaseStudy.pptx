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5A3"/>
                </a:solidFill>
              </a:rPr>
              <a:t>▲ ITFORCE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0" y="128016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4630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Case Study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566928"/>
            <a:ext cx="804672" cy="256032"/>
          </a:xfrm>
          <a:prstGeom prst="roundRect">
            <a:avLst>
              <a:gd name="adj" fmla="val 46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85216"/>
            <a:ext cx="804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CCCC"/>
                </a:solidFill>
              </a:rPr>
              <a:t>OpenCart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566928"/>
            <a:ext cx="1284732" cy="256032"/>
          </a:xfrm>
          <a:prstGeom prst="roundRect">
            <a:avLst>
              <a:gd name="adj" fmla="val 46429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26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585216"/>
            <a:ext cx="12847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CCCCC"/>
                </a:solidFill>
              </a:rPr>
              <a:t>PC Configurator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10058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From Browser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to </a:t>
            </a:r>
            <a:pPr indent="0" marL="0">
              <a:buNone/>
            </a:pPr>
            <a:r>
              <a:rPr lang="en-US" sz="5600" b="1" dirty="0">
                <a:solidFill>
                  <a:srgbClr val="3B82F6"/>
                </a:solidFill>
              </a:rPr>
              <a:t>Build.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Custom OpenCart development for a Ukrainian gaming hardware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retailer — a real-time PC configurator, compatibility engine,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</a:rPr>
              <a:t>and a checkout flow built for serious buyers.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5,200+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65760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Active SKUs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783080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Custom Modules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49300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82F6"/>
                </a:solidFill>
              </a:rPr>
              <a:t>8wk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200400" y="3986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Delivery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457200"/>
            <a:ext cx="3931920" cy="4462272"/>
          </a:xfrm>
          <a:prstGeom prst="roundRect">
            <a:avLst>
              <a:gd name="adj" fmla="val 4651"/>
            </a:avLst>
          </a:prstGeom>
          <a:solidFill>
            <a:srgbClr val="0D1525"/>
          </a:solidFill>
          <a:ln w="12700">
            <a:solidFill>
              <a:srgbClr val="3B82F6">
                <a:alpha val="20000"/>
              </a:srgbClr>
            </a:solidFill>
            <a:prstDash val="solid"/>
          </a:ln>
          <a:effectLst>
            <a:outerShdw sx="100000" sy="100000" kx="0" ky="0" algn="bl" rotWithShape="0" blurRad="254000" dist="50800" dir="2700000">
              <a:srgbClr val="3B82F6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457200"/>
            <a:ext cx="3931920" cy="47548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566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PC BUILD CONFIGURATOR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82712" y="548640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82712" y="5669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REAL-TIME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892040" y="932688"/>
            <a:ext cx="3931920" cy="530352"/>
          </a:xfrm>
          <a:prstGeom prst="rect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1088136"/>
            <a:ext cx="201168" cy="201168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56632" y="1078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9784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CPU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49240" y="11521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 Core i9-13900K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11521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14 500 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1463040"/>
            <a:ext cx="3931920" cy="530352"/>
          </a:xfrm>
          <a:prstGeom prst="rect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463040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56632" y="1618488"/>
            <a:ext cx="201168" cy="201168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6632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150876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MOTHERBOARD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349240" y="16824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ASUS ROG STRIX Z790-E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863840" y="168249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9 800 ₴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92040" y="1993392"/>
            <a:ext cx="3931920" cy="530352"/>
          </a:xfrm>
          <a:prstGeom prst="rect">
            <a:avLst/>
          </a:prstGeom>
          <a:solidFill>
            <a:srgbClr val="3B82F6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1993392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56632" y="2148840"/>
            <a:ext cx="201168" cy="201168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56632" y="2139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20391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RAM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349240" y="22128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Corsair 32GB DDR5-5600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63840" y="22128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4 200 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2523744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56632" y="2679192"/>
            <a:ext cx="201168" cy="2011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25694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GPU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49240" y="2743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Selecting compatible…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0" y="3054096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56632" y="3209544"/>
            <a:ext cx="201168" cy="201168"/>
          </a:xfrm>
          <a:prstGeom prst="ellipse">
            <a:avLst/>
          </a:prstGeom>
          <a:solidFill>
            <a:srgbClr val="4A5568">
              <a:alpha val="25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49240" y="309981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PSU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49240" y="32735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After GPU selection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029200" y="3584448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56632" y="3739896"/>
            <a:ext cx="201168" cy="201168"/>
          </a:xfrm>
          <a:prstGeom prst="ellipse">
            <a:avLst/>
          </a:prstGeom>
          <a:solidFill>
            <a:srgbClr val="4A5568">
              <a:alpha val="25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49240" y="36301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</a:rPr>
              <a:t>CASE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5349240" y="38039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By form factor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29200" y="4114800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4920" y="4160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Current total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74920" y="4315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28 500 ₴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315200" y="4206240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0" y="42336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Complete Build →</a:t>
            </a:r>
            <a:endParaRPr lang="en-US" sz="1000" dirty="0"/>
          </a:p>
        </p:txBody>
      </p:sp>
      <p:pic>
        <p:nvPicPr>
          <p:cNvPr id="61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"/>
            <a:ext cx="1005840" cy="173736"/>
          </a:xfrm>
          <a:prstGeom prst="rect">
            <a:avLst/>
          </a:prstGeom>
        </p:spPr>
      </p:pic>
      <p:sp>
        <p:nvSpPr>
          <p:cNvPr id="62" name="Text 59"/>
          <p:cNvSpPr/>
          <p:nvPr/>
        </p:nvSpPr>
        <p:spPr>
          <a:xfrm>
            <a:off x="75895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▲ itforce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89304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89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01 /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923"/>
                </a:solidFill>
              </a:rPr>
              <a:t>Customers were lost.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D1923"/>
                </a:solidFill>
              </a:rPr>
              <a:t>Carts were abandoned.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99339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568"/>
                </a:solidFill>
              </a:rPr>
              <a:t>Game-X had 5,200+ SKUs across CPUs, GPUs, RAM, motherboards, cases, and PSUs — but no guidance. Buyers couldn't confidently pick compatible parts. Support was overwhelmed. Conversion suffered.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3127248"/>
            <a:ext cx="1298448" cy="1691640"/>
          </a:xfrm>
          <a:prstGeom prst="roundRect">
            <a:avLst>
              <a:gd name="adj" fmla="val 8451"/>
            </a:avLst>
          </a:prstGeom>
          <a:solidFill>
            <a:srgbClr val="FFF5F5"/>
          </a:solidFill>
          <a:ln w="12700">
            <a:solidFill>
              <a:srgbClr val="F9DA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3255264"/>
            <a:ext cx="365760" cy="365760"/>
          </a:xfrm>
          <a:prstGeom prst="ellipse">
            <a:avLst/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712464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No compatibility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filtering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22452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Customers ordered parts that didn't fit their build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783080" y="3127248"/>
            <a:ext cx="1298448" cy="1691640"/>
          </a:xfrm>
          <a:prstGeom prst="roundRect">
            <a:avLst>
              <a:gd name="adj" fmla="val 8451"/>
            </a:avLst>
          </a:prstGeom>
          <a:solidFill>
            <a:srgbClr val="FFF5F5"/>
          </a:solidFill>
          <a:ln w="12700">
            <a:solidFill>
              <a:srgbClr val="F9DA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20240" y="3255264"/>
            <a:ext cx="365760" cy="365760"/>
          </a:xfrm>
          <a:prstGeom prst="ellipse">
            <a:avLst/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74520" y="3712464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No guided flow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74520" y="422452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Product pages in isolation, no cross-sell logic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3127248"/>
            <a:ext cx="1298448" cy="1691640"/>
          </a:xfrm>
          <a:prstGeom prst="roundRect">
            <a:avLst>
              <a:gd name="adj" fmla="val 8451"/>
            </a:avLst>
          </a:prstGeom>
          <a:solidFill>
            <a:srgbClr val="FFF5F5"/>
          </a:solidFill>
          <a:ln w="12700">
            <a:solidFill>
              <a:srgbClr val="F9DAD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3255264"/>
            <a:ext cx="365760" cy="365760"/>
          </a:xfrm>
          <a:prstGeom prst="ellipse">
            <a:avLst/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3E3E"/>
                </a:solidFill>
              </a:rPr>
              <a:t>✕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3712464"/>
            <a:ext cx="11338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No configurator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291840" y="4224528"/>
            <a:ext cx="11338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Competitors had one. Game-X didn't.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164592"/>
            <a:ext cx="4297680" cy="4754880"/>
          </a:xfrm>
          <a:prstGeom prst="roundRect">
            <a:avLst>
              <a:gd name="adj" fmla="val 3830"/>
            </a:avLst>
          </a:prstGeom>
          <a:solidFill>
            <a:srgbClr val="1C1E24"/>
          </a:solidFill>
          <a:ln w="12700">
            <a:solidFill>
              <a:srgbClr val="383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64592"/>
            <a:ext cx="4297680" cy="329184"/>
          </a:xfrm>
          <a:prstGeom prst="rect">
            <a:avLst/>
          </a:prstGeom>
          <a:solidFill>
            <a:srgbClr val="2A2D33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82312" y="274320"/>
            <a:ext cx="109728" cy="10972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74320"/>
            <a:ext cx="109728" cy="109728"/>
          </a:xfrm>
          <a:prstGeom prst="ellipse">
            <a:avLst/>
          </a:prstGeom>
          <a:solidFill>
            <a:srgbClr val="E0A552"/>
          </a:solidFill>
          <a:ln w="12700">
            <a:solidFill>
              <a:srgbClr val="E0A55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4648" y="274320"/>
            <a:ext cx="109728" cy="109728"/>
          </a:xfrm>
          <a:prstGeom prst="ellipse">
            <a:avLst/>
          </a:prstGeom>
          <a:solidFill>
            <a:srgbClr val="52C285"/>
          </a:solidFill>
          <a:ln w="12700">
            <a:solidFill>
              <a:srgbClr val="52C2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67528" y="237744"/>
            <a:ext cx="2560320" cy="192024"/>
          </a:xfrm>
          <a:prstGeom prst="roundRect">
            <a:avLst>
              <a:gd name="adj" fmla="val 28571"/>
            </a:avLst>
          </a:prstGeom>
          <a:solidFill>
            <a:srgbClr val="1A1D22"/>
          </a:solidFill>
          <a:ln w="12700">
            <a:solidFill>
              <a:srgbClr val="484E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67528" y="246888"/>
            <a:ext cx="2560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game-x.com.ua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617720" y="493776"/>
            <a:ext cx="4297680" cy="365760"/>
          </a:xfrm>
          <a:prstGeom prst="rect">
            <a:avLst/>
          </a:prstGeom>
          <a:solidFill>
            <a:srgbClr val="1A1D22"/>
          </a:solidFill>
          <a:ln w="12700">
            <a:solidFill>
              <a:srgbClr val="1A1D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548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GAME X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15000" y="576072"/>
            <a:ext cx="2011680" cy="182880"/>
          </a:xfrm>
          <a:prstGeom prst="roundRect">
            <a:avLst>
              <a:gd name="adj" fmla="val 25000"/>
            </a:avLst>
          </a:prstGeom>
          <a:solidFill>
            <a:srgbClr val="272B33"/>
          </a:solidFill>
          <a:ln w="12700">
            <a:solidFill>
              <a:srgbClr val="484E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58521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Пошук...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09160" y="91440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2E3440"/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97840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CPU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82312" y="1161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AMD Ryzen 7 7700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82312" y="1325880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8 549 грн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64024" y="1554480"/>
            <a:ext cx="1152144" cy="201168"/>
          </a:xfrm>
          <a:prstGeom prst="roundRect">
            <a:avLst>
              <a:gd name="adj" fmla="val 27273"/>
            </a:avLst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57276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E3E"/>
                </a:solidFill>
              </a:rPr>
              <a:t>⚠ Compatibility unknown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007608" y="91440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2E3440"/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97840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GPU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80760" y="1161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RTX 5070 12GB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080760" y="1325880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22 745 грн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62472" y="1554480"/>
            <a:ext cx="1152144" cy="201168"/>
          </a:xfrm>
          <a:prstGeom prst="roundRect">
            <a:avLst>
              <a:gd name="adj" fmla="val 27273"/>
            </a:avLst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62472" y="157276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E3E"/>
                </a:solidFill>
              </a:rPr>
              <a:t>⚠ Compatibility unknown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306056" y="914400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2E3440"/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97840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79208" y="1161288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32GB DDR5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79208" y="1325880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3 199 грн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60920" y="1554480"/>
            <a:ext cx="1152144" cy="201168"/>
          </a:xfrm>
          <a:prstGeom prst="roundRect">
            <a:avLst>
              <a:gd name="adj" fmla="val 27273"/>
            </a:avLst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157276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E3E"/>
                </a:solidFill>
              </a:rPr>
              <a:t>⚠ Compatibility unknown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709160" y="1911096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2E3440"/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82312" y="197510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Motherboard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82312" y="21579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B650M Gaming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782312" y="2322576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5 399 грн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64024" y="2551176"/>
            <a:ext cx="1152144" cy="201168"/>
          </a:xfrm>
          <a:prstGeom prst="roundRect">
            <a:avLst>
              <a:gd name="adj" fmla="val 27273"/>
            </a:avLst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64024" y="256946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E3E"/>
                </a:solidFill>
              </a:rPr>
              <a:t>⚠ Compatibility unknown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007608" y="1911096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2E3440"/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80760" y="197510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Case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080760" y="21579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Mid Tower RGB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080760" y="2322576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2 599 грн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62472" y="2551176"/>
            <a:ext cx="1152144" cy="201168"/>
          </a:xfrm>
          <a:prstGeom prst="roundRect">
            <a:avLst>
              <a:gd name="adj" fmla="val 27273"/>
            </a:avLst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62472" y="256946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E3E"/>
                </a:solidFill>
              </a:rPr>
              <a:t>⚠ Compatibility unknown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306056" y="1911096"/>
            <a:ext cx="1261872" cy="960120"/>
          </a:xfrm>
          <a:prstGeom prst="roundRect">
            <a:avLst>
              <a:gd name="adj" fmla="val 7619"/>
            </a:avLst>
          </a:prstGeom>
          <a:solidFill>
            <a:srgbClr val="2E3440"/>
          </a:solidFill>
          <a:ln w="12700">
            <a:solidFill>
              <a:srgbClr val="E53E3E">
                <a:alpha val="3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79208" y="1975104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PSU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379208" y="215798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650W 80+ Bronze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379208" y="2322576"/>
            <a:ext cx="11247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2 199 грн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60920" y="2551176"/>
            <a:ext cx="1152144" cy="201168"/>
          </a:xfrm>
          <a:prstGeom prst="roundRect">
            <a:avLst>
              <a:gd name="adj" fmla="val 27273"/>
            </a:avLst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60920" y="2569464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3E3E"/>
                </a:solidFill>
              </a:rPr>
              <a:t>⚠ Compatibility unknown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09160" y="2962656"/>
            <a:ext cx="4114800" cy="329184"/>
          </a:xfrm>
          <a:prstGeom prst="roundRect">
            <a:avLst>
              <a:gd name="adj" fmla="val 22222"/>
            </a:avLst>
          </a:prstGeom>
          <a:solidFill>
            <a:srgbClr val="E53E3E">
              <a:alpha val="8000"/>
            </a:srgbClr>
          </a:solidFill>
          <a:ln w="12700">
            <a:solidFill>
              <a:srgbClr val="E53E3E">
                <a:alpha val="30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00600" y="299923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⚠  We can't confirm these parts work together. Please check specs manually.</a:t>
            </a:r>
            <a:endParaRPr lang="en-US" sz="900" dirty="0"/>
          </a:p>
        </p:txBody>
      </p:sp>
      <p:pic>
        <p:nvPicPr>
          <p:cNvPr id="70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"/>
            <a:ext cx="1005840" cy="173736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75895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▲ itforce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220724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2207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02 /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923"/>
                </a:solidFill>
              </a:rPr>
              <a:t>Three custom modules.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D1923"/>
                </a:solidFill>
              </a:rPr>
              <a:t>One seamless engine.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We extended OpenCart with three interconnected modules — built from scratch, not off-the-shelf.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606040"/>
            <a:ext cx="548640" cy="54864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3B82F6"/>
                </a:solidFill>
              </a:rPr>
              <a:t>⚙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30352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923"/>
                </a:solidFill>
              </a:rPr>
              <a:t>PC Configurator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0352" y="36118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Step-by-step guided builder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" y="3867912"/>
            <a:ext cx="23774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3959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6-step flow: CPU→MB→RAM→GPU→PSU→Case. Each step auto-filters by compatibility. Live price counter. Mobile-responsive.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242316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2606040"/>
            <a:ext cx="548640" cy="548640"/>
          </a:xfrm>
          <a:prstGeom prst="ellipse">
            <a:avLst/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5A3"/>
                </a:solidFill>
              </a:rPr>
              <a:t>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56432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923"/>
                </a:solidFill>
              </a:rPr>
              <a:t>Compatibility Engine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456432" y="36118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5A3"/>
                </a:solidFill>
              </a:rPr>
              <a:t>Real-time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56432" y="3867912"/>
            <a:ext cx="23774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3959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Cross-references a relational matrix: CPU socket, RAM type, GPU wattage, case form factor. Zero invalid builds reach checkout.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2606040"/>
            <a:ext cx="548640" cy="548640"/>
          </a:xfrm>
          <a:prstGeom prst="ellipse">
            <a:avLst/>
          </a:prstGeom>
          <a:solidFill>
            <a:srgbClr val="8B5CF6">
              <a:alpha val="12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B5CF6"/>
                </a:solidFill>
              </a:rPr>
              <a:t>◈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82512" y="32826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923"/>
                </a:solidFill>
              </a:rPr>
              <a:t>Smart Cart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382512" y="36118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</a:rPr>
              <a:t>Build-aware checkout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82512" y="3867912"/>
            <a:ext cx="23774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395935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Saves full PC builds, detects swapped parts that break compatibility, warns buyer before checkout with plain-language explanations.</a:t>
            </a:r>
            <a:endParaRPr lang="en-US" sz="1150" dirty="0"/>
          </a:p>
        </p:txBody>
      </p:sp>
      <p:pic>
        <p:nvPicPr>
          <p:cNvPr id="27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"/>
            <a:ext cx="1005840" cy="173736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5895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▲ itforce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03 /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923"/>
                </a:solidFill>
              </a:rPr>
              <a:t>A builder that thinks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D1923"/>
                </a:solidFill>
              </a:rPr>
              <a:t>like a technician.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02336" y="1920240"/>
            <a:ext cx="118872" cy="11887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CPU → MB → RAM → GPU → PSU → Case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— 6-step flow, each step locked until prior is complete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2336" y="2450592"/>
            <a:ext cx="118872" cy="11887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59152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Auto-filters by compatibility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— Only compatible options shown — no wrong combos possible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2336" y="2980944"/>
            <a:ext cx="118872" cy="11887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8950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Live price counter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— Updates as each component is selected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2336" y="3511296"/>
            <a:ext cx="118872" cy="11887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19856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"Why locked?" tooltip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— Plain-language explanation for confused buyers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" y="4041648"/>
            <a:ext cx="118872" cy="11887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950208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923"/>
                </a:solidFill>
              </a:rPr>
              <a:t>Mobile-responsive </a:t>
            </a:r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— Full touch-optimised, thumb-friendly layout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17720" y="402336"/>
            <a:ext cx="4297680" cy="4517136"/>
          </a:xfrm>
          <a:prstGeom prst="roundRect">
            <a:avLst>
              <a:gd name="adj" fmla="val 3830"/>
            </a:avLst>
          </a:prstGeom>
          <a:solidFill>
            <a:srgbClr val="1C1E24"/>
          </a:solidFill>
          <a:ln w="12700">
            <a:solidFill>
              <a:srgbClr val="383E4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402336"/>
            <a:ext cx="4297680" cy="365760"/>
          </a:xfrm>
          <a:prstGeom prst="rect">
            <a:avLst/>
          </a:prstGeom>
          <a:solidFill>
            <a:srgbClr val="2A2D33"/>
          </a:solidFill>
          <a:ln w="12700">
            <a:solidFill>
              <a:srgbClr val="2A2D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82312" y="530352"/>
            <a:ext cx="109728" cy="109728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530352"/>
            <a:ext cx="109728" cy="109728"/>
          </a:xfrm>
          <a:prstGeom prst="ellipse">
            <a:avLst/>
          </a:prstGeom>
          <a:solidFill>
            <a:srgbClr val="E0A552"/>
          </a:solidFill>
          <a:ln w="12700">
            <a:solidFill>
              <a:srgbClr val="E0A5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84648" y="530352"/>
            <a:ext cx="109728" cy="109728"/>
          </a:xfrm>
          <a:prstGeom prst="ellipse">
            <a:avLst/>
          </a:prstGeom>
          <a:solidFill>
            <a:srgbClr val="52C285"/>
          </a:solidFill>
          <a:ln w="12700">
            <a:solidFill>
              <a:srgbClr val="52C2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4937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A4"/>
                </a:solidFill>
              </a:rPr>
              <a:t>game-x.com.ua / pc-builder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17720" y="768096"/>
            <a:ext cx="4297680" cy="347472"/>
          </a:xfrm>
          <a:prstGeom prst="rect">
            <a:avLst/>
          </a:prstGeom>
          <a:solidFill>
            <a:srgbClr val="272B33"/>
          </a:solidFill>
          <a:ln w="12700">
            <a:solidFill>
              <a:srgbClr val="383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8229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 Build Your PC — Step by Step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1115568"/>
            <a:ext cx="4297680" cy="512064"/>
          </a:xfrm>
          <a:prstGeom prst="rect">
            <a:avLst/>
          </a:prstGeom>
          <a:solidFill>
            <a:srgbClr val="00B5A3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82312" y="1271016"/>
            <a:ext cx="192024" cy="19202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126187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115214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CPU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074920" y="13258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Intel Core i9-13900K — 3.0GHz 24-core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01000" y="1325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14 500 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1627632"/>
            <a:ext cx="4297680" cy="512064"/>
          </a:xfrm>
          <a:prstGeom prst="rect">
            <a:avLst/>
          </a:prstGeom>
          <a:solidFill>
            <a:srgbClr val="00B5A3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627632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82312" y="1783080"/>
            <a:ext cx="192024" cy="19202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1773936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74920" y="16642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MOTHERBOARD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74920" y="18379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ASUS ROG STRIX Z790-E — LGA1700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01000" y="183794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9 800 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2139696"/>
            <a:ext cx="4297680" cy="512064"/>
          </a:xfrm>
          <a:prstGeom prst="rect">
            <a:avLst/>
          </a:prstGeom>
          <a:solidFill>
            <a:srgbClr val="00B5A3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2139696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82312" y="2295144"/>
            <a:ext cx="192024" cy="19202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82312" y="2286000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74920" y="21762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RAM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5074920" y="23500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Corsair Vengeance 32GB DDR5-5600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01000" y="2350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4 200 ₴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2651760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82312" y="2807208"/>
            <a:ext cx="192024" cy="1920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74920" y="26883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GPU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074920" y="2862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Selecting compatible models…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3163824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82312" y="3319272"/>
            <a:ext cx="192024" cy="192024"/>
          </a:xfrm>
          <a:prstGeom prst="ellipse">
            <a:avLst/>
          </a:prstGeom>
          <a:solidFill>
            <a:srgbClr val="4A5568">
              <a:alpha val="25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32004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PSU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074920" y="33741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Auto-calculated after GPU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675888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82312" y="3831336"/>
            <a:ext cx="192024" cy="192024"/>
          </a:xfrm>
          <a:prstGeom prst="ellipse">
            <a:avLst/>
          </a:prstGeom>
          <a:solidFill>
            <a:srgbClr val="4A5568">
              <a:alpha val="25000"/>
            </a:srgbClr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37124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CASE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074920" y="3886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Filtered by form factor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4224528"/>
            <a:ext cx="402336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00600" y="4279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</a:rPr>
              <a:t>Total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00600" y="4434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28 500 ₴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7452360" y="4315968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52360" y="4343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 Build →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04 / Feature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42062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1923"/>
                </a:solidFill>
              </a:rPr>
              <a:t>5,200 SKUs.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D1923"/>
                </a:solidFill>
              </a:rPr>
              <a:t>Zero wrong combos.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84708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The engine cross-references a relational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compatibility matrix. Rules cover: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41148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2615184"/>
            <a:ext cx="329184" cy="329184"/>
          </a:xfrm>
          <a:prstGeom prst="ellipse">
            <a:avLst/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5A3"/>
                </a:solidFill>
              </a:rPr>
              <a:t>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265176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6152" y="26517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923"/>
                </a:solidFill>
              </a:rPr>
              <a:t>CPU socket  ↔  Motherboard socket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3072384"/>
            <a:ext cx="41148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3127248"/>
            <a:ext cx="329184" cy="329184"/>
          </a:xfrm>
          <a:prstGeom prst="ellipse">
            <a:avLst/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31272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5A3"/>
                </a:solidFill>
              </a:rPr>
              <a:t>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3163824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2.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16152" y="316382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923"/>
                </a:solidFill>
              </a:rPr>
              <a:t>RAM type  ↔  Motherboard slot (DDR4/DDR5)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5760" y="3584448"/>
            <a:ext cx="41148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639312"/>
            <a:ext cx="329184" cy="329184"/>
          </a:xfrm>
          <a:prstGeom prst="ellipse">
            <a:avLst/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5A3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367588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3.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16152" y="36758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923"/>
                </a:solidFill>
              </a:rPr>
              <a:t>GPU power draw  ↔  PSU wattage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65760" y="4096512"/>
            <a:ext cx="41148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" y="4151376"/>
            <a:ext cx="329184" cy="329184"/>
          </a:xfrm>
          <a:prstGeom prst="ellipse">
            <a:avLst/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" y="4151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B5A3"/>
                </a:solidFill>
              </a:rPr>
              <a:t>◻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1879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4.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6152" y="418795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923"/>
                </a:solidFill>
              </a:rPr>
              <a:t>Case form factor  ↔  Motherboard size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4645152"/>
            <a:ext cx="4572000" cy="498348"/>
          </a:xfrm>
          <a:prstGeom prst="rect">
            <a:avLst/>
          </a:prstGeom>
          <a:solidFill>
            <a:srgbClr val="00B5A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88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7200" y="48828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Compatibility Layers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74520" y="4663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88"/>
                </a:solidFill>
              </a:rPr>
              <a:t>Real-time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874520" y="48828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0" y="4663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9688"/>
                </a:solidFill>
              </a:rPr>
              <a:t>0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291840" y="48828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Invalid Builds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164592"/>
            <a:ext cx="4297680" cy="4754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3108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Compatibility Matrix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92040" y="640080"/>
            <a:ext cx="374904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1033272"/>
            <a:ext cx="-1371600" cy="914400"/>
          </a:xfrm>
          <a:prstGeom prst="line">
            <a:avLst/>
          </a:prstGeom>
          <a:noFill/>
          <a:ln w="1905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1033272"/>
            <a:ext cx="1417320" cy="914400"/>
          </a:xfrm>
          <a:prstGeom prst="line">
            <a:avLst/>
          </a:prstGeom>
          <a:noFill/>
          <a:ln w="1905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12080" y="1947672"/>
            <a:ext cx="0" cy="1188720"/>
          </a:xfrm>
          <a:prstGeom prst="line">
            <a:avLst/>
          </a:prstGeom>
          <a:noFill/>
          <a:ln w="1905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12080" y="1947672"/>
            <a:ext cx="1371600" cy="1188720"/>
          </a:xfrm>
          <a:prstGeom prst="line">
            <a:avLst/>
          </a:prstGeom>
          <a:noFill/>
          <a:ln w="1905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12080" y="1947672"/>
            <a:ext cx="2788920" cy="1188720"/>
          </a:xfrm>
          <a:prstGeom prst="line">
            <a:avLst/>
          </a:prstGeom>
          <a:noFill/>
          <a:ln w="1905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01000" y="1947672"/>
            <a:ext cx="-1417320" cy="1188720"/>
          </a:xfrm>
          <a:prstGeom prst="line">
            <a:avLst/>
          </a:prstGeom>
          <a:noFill/>
          <a:ln w="1905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850392"/>
            <a:ext cx="548640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2893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923"/>
                </a:solidFill>
              </a:rPr>
              <a:t>CPU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1764792"/>
            <a:ext cx="548640" cy="384048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203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923"/>
                </a:solidFill>
              </a:rPr>
              <a:t>Motherboard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726680" y="1764792"/>
            <a:ext cx="548640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2203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923"/>
                </a:solidFill>
              </a:rPr>
              <a:t>GPU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37760" y="2953512"/>
            <a:ext cx="548640" cy="384048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3924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923"/>
                </a:solidFill>
              </a:rPr>
              <a:t>RAM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2953512"/>
            <a:ext cx="548640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33924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923"/>
                </a:solidFill>
              </a:rPr>
              <a:t>PSU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726680" y="2953512"/>
            <a:ext cx="548640" cy="384048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35240" y="33924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923"/>
                </a:solidFill>
              </a:rPr>
              <a:t>Case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696712" y="1380744"/>
            <a:ext cx="493776" cy="182880"/>
          </a:xfrm>
          <a:prstGeom prst="roundRect">
            <a:avLst>
              <a:gd name="adj" fmla="val 40000"/>
            </a:avLst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96712" y="138988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5A3"/>
                </a:solidFill>
              </a:rPr>
              <a:t>✓ match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7091172" y="1380744"/>
            <a:ext cx="493776" cy="182880"/>
          </a:xfrm>
          <a:prstGeom prst="roundRect">
            <a:avLst>
              <a:gd name="adj" fmla="val 40000"/>
            </a:avLst>
          </a:prstGeom>
          <a:solidFill>
            <a:srgbClr val="00B5A3">
              <a:alpha val="12000"/>
            </a:srgbClr>
          </a:solidFill>
          <a:ln w="127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91172" y="1389888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B5A3"/>
                </a:solidFill>
              </a:rPr>
              <a:t>✓ match</a:t>
            </a:r>
            <a:endParaRPr lang="en-US" sz="750" dirty="0"/>
          </a:p>
        </p:txBody>
      </p:sp>
      <p:pic>
        <p:nvPicPr>
          <p:cNvPr id="58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"/>
            <a:ext cx="1005840" cy="173736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75895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▲ itforce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04 /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45720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D1923"/>
                </a:solidFill>
              </a:rPr>
              <a:t>Built to convert.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D1923"/>
                </a:solidFill>
              </a:rPr>
              <a:t>Proved it fast.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18105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5568"/>
                </a:solidFill>
              </a:rPr>
              <a:t>6 months post-launch vs. pre-launch baseline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176272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304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</a:rPr>
              <a:t>+34%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93776" y="2816352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Conversion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307238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Configurator checkouts vs.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standard product pages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14600" y="2176272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2176272"/>
            <a:ext cx="196596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230428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3E3E"/>
                </a:solidFill>
              </a:rPr>
              <a:t>−60%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642616" y="2816352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Support Tickets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42616" y="307238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Pre-sale queries after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launching the configurator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593592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93592"/>
            <a:ext cx="1965960" cy="54864"/>
          </a:xfrm>
          <a:prstGeom prst="rect">
            <a:avLst/>
          </a:prstGeom>
          <a:solidFill>
            <a:srgbClr val="00B5A3"/>
          </a:solidFill>
          <a:ln w="12700">
            <a:solidFill>
              <a:srgbClr val="00B5A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72160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B5A3"/>
                </a:solidFill>
              </a:rPr>
              <a:t>2.4×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93776" y="4233672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Avg. Order Value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" y="4489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Configurator builds vs.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single-item purchases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14600" y="3593592"/>
            <a:ext cx="19659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3593592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2616" y="3721608"/>
            <a:ext cx="1709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CF6"/>
                </a:solidFill>
              </a:rPr>
              <a:t>4.9/5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642616" y="4233672"/>
            <a:ext cx="1709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Satisfaction 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42616" y="4489704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Post-purchase rating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configurator orders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45720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F8FFFE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548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00B5A3">
                    <a:alpha val="40000"/>
                  </a:srgbClr>
                </a:solidFill>
              </a:rPr>
              <a:t>“</a:t>
            </a:r>
            <a:endParaRPr lang="en-US" sz="6800" dirty="0"/>
          </a:p>
        </p:txBody>
      </p:sp>
      <p:sp>
        <p:nvSpPr>
          <p:cNvPr id="28" name="Text 26"/>
          <p:cNvSpPr/>
          <p:nvPr/>
        </p:nvSpPr>
        <p:spPr>
          <a:xfrm>
            <a:off x="4846320" y="1097280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D1923"/>
                </a:solidFill>
              </a:rPr>
              <a:t>We expected a product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D1923"/>
                </a:solidFill>
              </a:rPr>
              <a:t>page upgrade.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4846320" y="19385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B5A3"/>
                </a:solidFill>
              </a:rPr>
              <a:t>ITForce built us an actual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00B5A3"/>
                </a:solidFill>
              </a:rPr>
              <a:t>sales system.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846320" y="2852928"/>
            <a:ext cx="379476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9443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</a:rPr>
              <a:t>— Game-X founder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2735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game-x.com.ua  ·  Kyiv, Ukraine  ·  OpenCart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3584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9E0B"/>
                </a:solidFill>
              </a:rPr>
              <a:t>★★★★★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53912" y="36301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4.9/5  customer satisfaction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4005072"/>
            <a:ext cx="3840480" cy="329184"/>
          </a:xfrm>
          <a:prstGeom prst="roundRect">
            <a:avLst>
              <a:gd name="adj" fmla="val 27778"/>
            </a:avLst>
          </a:prstGeom>
          <a:solidFill>
            <a:srgbClr val="E6F7F5"/>
          </a:solidFill>
          <a:ln w="12700">
            <a:solidFill>
              <a:srgbClr val="00B5A3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41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688"/>
                </a:solidFill>
              </a:rPr>
              <a:t>✓  Completed on Upwork  ·  Top Rated Agency  ·  100% Job Success</a:t>
            </a:r>
            <a:endParaRPr lang="en-US" sz="1000" dirty="0"/>
          </a:p>
        </p:txBody>
      </p:sp>
      <p:pic>
        <p:nvPicPr>
          <p:cNvPr id="37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"/>
            <a:ext cx="1005840" cy="17373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75895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▲ itforce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700784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05 / Tech &amp; Timeline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1923"/>
                </a:solidFill>
              </a:rPr>
              <a:t>OpenCart, extended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D1923"/>
                </a:solidFill>
              </a:rPr>
              <a:t>the right way.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177747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11777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OpenCart 3.x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71523" y="1737360"/>
            <a:ext cx="816559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1523" y="1783080"/>
            <a:ext cx="816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PHP 8.1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16098" y="1737360"/>
            <a:ext cx="672084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16098" y="1783080"/>
            <a:ext cx="672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MySQL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16198" y="1737360"/>
            <a:ext cx="1033272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6198" y="1783080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Vanilla 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1249985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85416"/>
            <a:ext cx="124998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Custom OC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43761" y="2139696"/>
            <a:ext cx="599846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43761" y="2185416"/>
            <a:ext cx="599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CSS3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71623" y="2139696"/>
            <a:ext cx="888797" cy="292608"/>
          </a:xfrm>
          <a:prstGeom prst="roundRect">
            <a:avLst>
              <a:gd name="adj" fmla="val 43750"/>
            </a:avLst>
          </a:prstGeom>
          <a:solidFill>
            <a:srgbClr val="E6F7F5"/>
          </a:solidFill>
          <a:ln w="12700">
            <a:solidFill>
              <a:srgbClr val="00B5A3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71623" y="2185416"/>
            <a:ext cx="8887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88"/>
                </a:solidFill>
              </a:rPr>
              <a:t>Git / CI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816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923"/>
                </a:solidFill>
              </a:rPr>
              <a:t>What we delivered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84048" y="3300984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00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PC Configurator — 6-step guided builder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84048" y="3694176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5935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Compatibility Engine — relational matrix, 4 rule layers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4048" y="4087368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98678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Smart Cart — build-save + pre-checkout validation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84048" y="4480560"/>
            <a:ext cx="100584" cy="100584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37997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</a:rPr>
              <a:t>Full OpenCart theme integration &amp; admin UI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164592"/>
            <a:ext cx="4297680" cy="480060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108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923"/>
                </a:solidFill>
              </a:rPr>
              <a:t>Delivery Timeline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621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8 weeks · discovery to production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877824"/>
            <a:ext cx="3840480" cy="0"/>
          </a:xfrm>
          <a:prstGeom prst="line">
            <a:avLst/>
          </a:prstGeom>
          <a:noFill/>
          <a:ln w="12700">
            <a:solidFill>
              <a:srgbClr val="CBD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93208" y="1005840"/>
            <a:ext cx="0" cy="3520440"/>
          </a:xfrm>
          <a:prstGeom prst="line">
            <a:avLst/>
          </a:prstGeom>
          <a:noFill/>
          <a:ln w="25400">
            <a:solidFill>
              <a:srgbClr val="00B5A3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5192" y="1042416"/>
            <a:ext cx="256032" cy="25603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12664" y="98755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Wk 1–2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12664" y="1188720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Discovery &amp; Schema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312664" y="1444752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Compatibility matrix design, relational DB structure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965192" y="1755648"/>
            <a:ext cx="256032" cy="25603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12664" y="170078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Wk 3–4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12664" y="1901952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Configurator Module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12664" y="2157984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6-step builder + admin UI for product mapping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965192" y="2468880"/>
            <a:ext cx="256032" cy="25603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12664" y="2414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Wk 5–6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12664" y="2615184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Compatibility Engine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12664" y="287121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Real-time validation + Smart Cart integration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965192" y="3182112"/>
            <a:ext cx="256032" cy="25603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12664" y="31272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Wk 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12664" y="332841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QA &amp; Testing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312664" y="3584448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Cross-browser, mobile, edge-case compatibility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965192" y="3895344"/>
            <a:ext cx="256032" cy="256032"/>
          </a:xfrm>
          <a:prstGeom prst="ellipse">
            <a:avLst/>
          </a:prstGeom>
          <a:solidFill>
            <a:srgbClr val="00B5A3"/>
          </a:solidFill>
          <a:ln w="12700">
            <a:solidFill>
              <a:srgbClr val="00B5A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12664" y="38404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5A3"/>
                </a:solidFill>
              </a:rPr>
              <a:t>Wk 8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312664" y="4041648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923"/>
                </a:solidFill>
              </a:rPr>
              <a:t>Deploy &amp; Handover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312664" y="4297680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Staging → production + Game-X team training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0B5A3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88289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688"/>
                </a:solidFill>
              </a:rPr>
              <a:t>▲ ITFORCE  ·  game-x.com.ua  ·  itforce.ua</a:t>
            </a:r>
            <a:endParaRPr lang="en-US" sz="1000" dirty="0"/>
          </a:p>
        </p:txBody>
      </p:sp>
      <p:pic>
        <p:nvPicPr>
          <p:cNvPr id="55" name="Image 0" descr="/sessions/happy-elegant-ritchie/mnt/Web Development addon/it_forc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28016"/>
            <a:ext cx="1005840" cy="173736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7589520" y="137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B5A3"/>
                </a:solidFill>
              </a:rPr>
              <a:t>▲ itforce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2026-06-24T17:56:27Z</dcterms:created>
  <dcterms:modified xsi:type="dcterms:W3CDTF">2026-06-24T17:56:27Z</dcterms:modified>
</cp:coreProperties>
</file>