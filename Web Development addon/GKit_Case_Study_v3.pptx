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Impressions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12</c:v>
                </c:pt>
                <c:pt idx="1">
                  <c:v>25</c:v>
                </c:pt>
                <c:pt idx="2">
                  <c:v>48</c:v>
                </c:pt>
                <c:pt idx="3">
                  <c:v>95</c:v>
                </c:pt>
                <c:pt idx="4">
                  <c:v>180</c:v>
                </c:pt>
                <c:pt idx="5">
                  <c:v>280</c:v>
                </c:pt>
                <c:pt idx="6">
                  <c:v>380</c:v>
                </c:pt>
                <c:pt idx="7">
                  <c:v>490</c:v>
                </c:pt>
                <c:pt idx="8">
                  <c:v>520</c:v>
                </c:pt>
                <c:pt idx="9">
                  <c:v>610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Clicks</c:v>
                </c:pt>
              </c:strCache>
            </c:strRef>
          </c:tx>
          <c:spPr>
            <a:solidFill>
              <a:srgbClr val="14B8A6"/>
            </a:solidFill>
            <a:ln w="31750" cap="flat">
              <a:solidFill>
                <a:srgbClr val="14B8A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4B8A6"/>
              </a:solidFill>
              <a:ln w="9525" cap="flat">
                <a:solidFill>
                  <a:srgbClr val="14B8A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Mar 1</c:v>
                  </c:pt>
                  <c:pt idx="1">
                    <c:v>Mar 5</c:v>
                  </c:pt>
                  <c:pt idx="2">
                    <c:v>Mar 10</c:v>
                  </c:pt>
                  <c:pt idx="3">
                    <c:v>Mar 15</c:v>
                  </c:pt>
                  <c:pt idx="4">
                    <c:v>Mar 18</c:v>
                  </c:pt>
                  <c:pt idx="5">
                    <c:v>Mar 20</c:v>
                  </c:pt>
                  <c:pt idx="6">
                    <c:v>Mar 23</c:v>
                  </c:pt>
                  <c:pt idx="7">
                    <c:v>Mar 25</c:v>
                  </c:pt>
                  <c:pt idx="8">
                    <c:v>Mar 28</c:v>
                  </c:pt>
                  <c:pt idx="9">
                    <c:v>Mar 31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4</c:v>
                </c:pt>
                <c:pt idx="4">
                  <c:v>6</c:v>
                </c:pt>
                <c:pt idx="5">
                  <c:v>9</c:v>
                </c:pt>
                <c:pt idx="6">
                  <c:v>14</c:v>
                </c:pt>
                <c:pt idx="7">
                  <c:v>22</c:v>
                </c:pt>
                <c:pt idx="8">
                  <c:v>28</c:v>
                </c:pt>
                <c:pt idx="9">
                  <c:v>42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9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2926080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2926080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2926080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2926080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2926080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2926080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2926080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3639312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3639312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3639312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3639312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3639312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3639312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3639312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4352544" y="-1828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4352544" y="5943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4352544" y="137160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4352544" y="214884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4352544" y="292608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4352544" y="370332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4352544" y="4480560"/>
            <a:ext cx="347472" cy="347472"/>
          </a:xfrm>
          <a:prstGeom prst="rect">
            <a:avLst/>
          </a:prstGeom>
          <a:solidFill>
            <a:srgbClr val="FFFFFF">
              <a:alpha val="6000"/>
            </a:srgbClr>
          </a:solidFill>
          <a:ln w="6350">
            <a:solidFill>
              <a:srgbClr val="FFFFFF">
                <a:alpha val="10000"/>
              </a:srgbClr>
            </a:solidFill>
            <a:prstDash val="solid"/>
          </a:ln>
        </p:spPr>
      </p:sp>
      <p:pic>
        <p:nvPicPr>
          <p:cNvPr id="23" name="Image 0" descr="/sessions/happy-elegant-ritchie/mnt/Web Development addon/b61c5ce3-aeb4-4737-a82c-48df1d503f1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0" y="0"/>
            <a:ext cx="4114800" cy="3767328"/>
          </a:xfrm>
          <a:prstGeom prst="rect">
            <a:avLst/>
          </a:prstGeom>
        </p:spPr>
      </p:pic>
      <p:sp>
        <p:nvSpPr>
          <p:cNvPr id="24" name="Shape 21"/>
          <p:cNvSpPr/>
          <p:nvPr/>
        </p:nvSpPr>
        <p:spPr>
          <a:xfrm>
            <a:off x="5029200" y="0"/>
            <a:ext cx="109728" cy="3767328"/>
          </a:xfrm>
          <a:prstGeom prst="rect">
            <a:avLst/>
          </a:prstGeom>
          <a:solidFill>
            <a:srgbClr val="1E4848">
              <a:alpha val="78000"/>
            </a:srgbClr>
          </a:solidFill>
          <a:ln/>
        </p:spPr>
      </p:sp>
      <p:sp>
        <p:nvSpPr>
          <p:cNvPr id="25" name="Shape 22"/>
          <p:cNvSpPr/>
          <p:nvPr/>
        </p:nvSpPr>
        <p:spPr>
          <a:xfrm>
            <a:off x="5138928" y="0"/>
            <a:ext cx="109728" cy="3767328"/>
          </a:xfrm>
          <a:prstGeom prst="rect">
            <a:avLst/>
          </a:prstGeom>
          <a:solidFill>
            <a:srgbClr val="1E4848">
              <a:alpha val="8400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5248656" y="0"/>
            <a:ext cx="109728" cy="3767328"/>
          </a:xfrm>
          <a:prstGeom prst="rect">
            <a:avLst/>
          </a:prstGeom>
          <a:solidFill>
            <a:srgbClr val="1E4848">
              <a:alpha val="90000"/>
            </a:srgbClr>
          </a:solidFill>
          <a:ln/>
        </p:spPr>
      </p:sp>
      <p:sp>
        <p:nvSpPr>
          <p:cNvPr id="27" name="Shape 24"/>
          <p:cNvSpPr/>
          <p:nvPr/>
        </p:nvSpPr>
        <p:spPr>
          <a:xfrm>
            <a:off x="5358384" y="0"/>
            <a:ext cx="109728" cy="3767328"/>
          </a:xfrm>
          <a:prstGeom prst="rect">
            <a:avLst/>
          </a:prstGeom>
          <a:solidFill>
            <a:srgbClr val="1E4848">
              <a:alpha val="94000"/>
            </a:srgbClr>
          </a:solidFill>
          <a:ln/>
        </p:spPr>
      </p:sp>
      <p:sp>
        <p:nvSpPr>
          <p:cNvPr id="28" name="Shape 25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9" name="Shape 26"/>
          <p:cNvSpPr/>
          <p:nvPr/>
        </p:nvSpPr>
        <p:spPr>
          <a:xfrm>
            <a:off x="201168" y="384048"/>
            <a:ext cx="182880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01168" y="384048"/>
            <a:ext cx="1828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OpenCart Development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2157984" y="384048"/>
            <a:ext cx="1362456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2157984" y="384048"/>
            <a:ext cx="13624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E-Commerce SEO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3648456" y="384048"/>
            <a:ext cx="1440180" cy="246888"/>
          </a:xfrm>
          <a:prstGeom prst="roundRect">
            <a:avLst>
              <a:gd name="adj" fmla="val 48148"/>
            </a:avLst>
          </a:prstGeom>
          <a:solidFill>
            <a:srgbClr val="FFFFFF">
              <a:alpha val="18000"/>
            </a:srgbClr>
          </a:solidFill>
          <a:ln w="12700">
            <a:solidFill>
              <a:srgbClr val="0D9488">
                <a:alpha val="60000"/>
              </a:srgbClr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648456" y="384048"/>
            <a:ext cx="14401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CRM Integration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201168" y="777240"/>
            <a:ext cx="2743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gkit</a:t>
            </a:r>
            <a:endParaRPr lang="en-US" sz="4600" dirty="0"/>
          </a:p>
        </p:txBody>
      </p:sp>
      <p:sp>
        <p:nvSpPr>
          <p:cNvPr id="36" name="Shape 33"/>
          <p:cNvSpPr/>
          <p:nvPr/>
        </p:nvSpPr>
        <p:spPr>
          <a:xfrm>
            <a:off x="201168" y="1444752"/>
            <a:ext cx="1097280" cy="36576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7" name="Text 34"/>
          <p:cNvSpPr/>
          <p:nvPr/>
        </p:nvSpPr>
        <p:spPr>
          <a:xfrm>
            <a:off x="201168" y="155448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OpenCart Store Build</a:t>
            </a:r>
            <a:endParaRPr lang="en-US" sz="2000" dirty="0"/>
          </a:p>
          <a:p>
            <a:pPr algn="l" indent="0" marL="0">
              <a:buNone/>
            </a:pPr>
            <a:r>
              <a:rPr lang="en-US" sz="2000" dirty="0">
                <a:solidFill>
                  <a:srgbClr val="A7D4D2"/>
                </a:solidFill>
              </a:rPr>
              <a:t>+ SEO Launch Strategy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201168" y="2523744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BCFCF"/>
                </a:solidFill>
              </a:rPr>
              <a:t>Full-cycle project: from mock-up audit and CRM architecture to technical SEO and analytics — launching a branded fashion e-commerce store primed for growth.</a:t>
            </a:r>
            <a:endParaRPr lang="en-US" sz="1100" dirty="0"/>
          </a:p>
        </p:txBody>
      </p:sp>
      <p:sp>
        <p:nvSpPr>
          <p:cNvPr id="39" name="Text 36"/>
          <p:cNvSpPr/>
          <p:nvPr/>
        </p:nvSpPr>
        <p:spPr>
          <a:xfrm>
            <a:off x="201168" y="329184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5AADAD"/>
                </a:solidFill>
              </a:rPr>
              <a:t>gkit.com.ua  ·  OpenCart + KeepinCRM  ·  Fashion &amp; Sportswear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201168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1" name="Text 38"/>
          <p:cNvSpPr/>
          <p:nvPr/>
        </p:nvSpPr>
        <p:spPr>
          <a:xfrm>
            <a:off x="274320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85</a:t>
            </a:r>
            <a:endParaRPr lang="en-US" sz="2400" dirty="0"/>
          </a:p>
        </p:txBody>
      </p:sp>
      <p:sp>
        <p:nvSpPr>
          <p:cNvPr id="42" name="Text 39"/>
          <p:cNvSpPr/>
          <p:nvPr/>
        </p:nvSpPr>
        <p:spPr>
          <a:xfrm>
            <a:off x="256032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 Sessions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(Month 1)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2377440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4" name="Text 41"/>
          <p:cNvSpPr/>
          <p:nvPr/>
        </p:nvSpPr>
        <p:spPr>
          <a:xfrm>
            <a:off x="2450592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58.82%</a:t>
            </a:r>
            <a:endParaRPr lang="en-US" sz="2400" dirty="0"/>
          </a:p>
        </p:txBody>
      </p:sp>
      <p:sp>
        <p:nvSpPr>
          <p:cNvPr id="45" name="Text 42"/>
          <p:cNvSpPr/>
          <p:nvPr/>
        </p:nvSpPr>
        <p:spPr>
          <a:xfrm>
            <a:off x="2432304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</a:t>
            </a:r>
            <a:endParaRPr lang="en-US" sz="850" dirty="0"/>
          </a:p>
        </p:txBody>
      </p:sp>
      <p:sp>
        <p:nvSpPr>
          <p:cNvPr id="46" name="Shape 43"/>
          <p:cNvSpPr/>
          <p:nvPr/>
        </p:nvSpPr>
        <p:spPr>
          <a:xfrm>
            <a:off x="4553712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47" name="Text 44"/>
          <p:cNvSpPr/>
          <p:nvPr/>
        </p:nvSpPr>
        <p:spPr>
          <a:xfrm>
            <a:off x="4626864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2,600</a:t>
            </a:r>
            <a:endParaRPr lang="en-US" sz="2400" dirty="0"/>
          </a:p>
        </p:txBody>
      </p:sp>
      <p:sp>
        <p:nvSpPr>
          <p:cNvPr id="48" name="Text 45"/>
          <p:cNvSpPr/>
          <p:nvPr/>
        </p:nvSpPr>
        <p:spPr>
          <a:xfrm>
            <a:off x="4608576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49" name="Shape 46"/>
          <p:cNvSpPr/>
          <p:nvPr/>
        </p:nvSpPr>
        <p:spPr>
          <a:xfrm>
            <a:off x="6729984" y="3822192"/>
            <a:ext cx="1993392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50" name="Text 47"/>
          <p:cNvSpPr/>
          <p:nvPr/>
        </p:nvSpPr>
        <p:spPr>
          <a:xfrm>
            <a:off x="6803136" y="3877056"/>
            <a:ext cx="1847088" cy="5230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42</a:t>
            </a:r>
            <a:endParaRPr lang="en-US" sz="2400" dirty="0"/>
          </a:p>
        </p:txBody>
      </p:sp>
      <p:sp>
        <p:nvSpPr>
          <p:cNvPr id="51" name="Text 48"/>
          <p:cNvSpPr/>
          <p:nvPr/>
        </p:nvSpPr>
        <p:spPr>
          <a:xfrm>
            <a:off x="6784848" y="4365346"/>
            <a:ext cx="1883664" cy="4224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58191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5819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CLIENT OVERVIEW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GKit — Premium Branded Fashion Store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Online destination for original Nike, Adidas, Jordan &amp; New Balance — built on OpenCart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9105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STORE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40080" y="179222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GKit (gkit.com.ua) — premium branded clothing, footwear &amp; accessories. Works exclusively with verified suppliers. No replicas.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57200" y="239572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41401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MARKET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0080" y="261518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Multi-brand retail. Delivery nationwide. Payments: Privat24, Monopay, Visa/Mastercard.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321868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3697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PLATFORM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640080" y="343814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OpenCart CMS with KeepinCRM integration for inventory &amp; order management.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4041648"/>
            <a:ext cx="64008" cy="65836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4059936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spc="150" kern="0" dirty="0">
                <a:solidFill>
                  <a:srgbClr val="0D9488"/>
                </a:solidFill>
              </a:rPr>
              <a:t>TASK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" y="4261104"/>
            <a:ext cx="3931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Full website development from mock-up stage, followed by SEO launch &amp; first-month growth.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4846320" y="1508760"/>
            <a:ext cx="3931920" cy="3127248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0" name="Shape 18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1" name="Shape 19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2" name="Shape 20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3" name="Shape 21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pic>
        <p:nvPicPr>
          <p:cNvPr id="25" name="Image 0" descr="/sessions/happy-elegant-ritchie/mnt/outputs/ss_homepag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783080"/>
            <a:ext cx="3931920" cy="2852928"/>
          </a:xfrm>
          <a:prstGeom prst="rect">
            <a:avLst/>
          </a:prstGeom>
        </p:spPr>
      </p:pic>
      <p:sp>
        <p:nvSpPr>
          <p:cNvPr id="26" name="Shape 23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7" name="Text 24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Industry: E-Commerce · Fashion &amp; Sportswear · Multi-Brand Retail  |  Project Type: Web Development + SEO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413662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41366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THE CHALLENGE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Building on a Glass Foundation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A new store, a complex catalog, and zero organic history — every decision had to be right from day one.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Organic History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21792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Brand-new domain with zero SEO signals, no backlinks, and no indexed pages. Every ranking had to be earned from scratch.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6704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11296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Duplicate SKU Crisis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11296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Each shoe size was stored as a separate product — 100 models x 5 sizes = 500 separate listings. Disastrous for UX and SEO.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36208" y="157276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0" y="168249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CRM Sync Architecture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20116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Client needed KeepinCRM to control inventory with automatic sync to OpenCart — a bidirectional data flow requiring careful design.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21792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Bilingual Catalog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21792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All product data, filters, and metadata needed in both Ukrainian and Russian — with standardized dropdowns, not free-text entry.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346704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511296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SEO-Integrated Development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511296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Technical SEO requirements (hreflang, canonical, Schema.org, URL structure) had to be baked in during build, not retrofitted post-launch.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36208" y="2990088"/>
            <a:ext cx="2706624" cy="126187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400800" y="3099816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Existing Analytics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0" y="34290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GA4, GTM, and GSC all had to be configured from scratch with a fully working ecommerce tracking layer before first traffic arrived.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5" name="Text 23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Every challenge was addressed before launch. The result: a site that ranked from day one.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08666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08666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1 · DEVELOPMENT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OpenCart Build &amp; UI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Full development from mockup audit through CRM-ready structure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Mock-up Audit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Analysed design files before a single line of code was written. Identified structural issues, missing UI states, and device responsiveness gaps.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2377440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77440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4144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UI Gap Fixes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40080" y="267919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Added missing language switcher dropdown, cart/wishlist item counters in the header, and a product review form on product pages.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3182112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8211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2461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UX Restructure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348386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Proposed 3-column review grid, product images in review listings, and moved the "Add Review" action to product cards only.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411480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8678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40507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Variant Architecture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0080" y="42885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Redesigned product data model: 5 separate size SKUs -&gt; 1 parent card with size/color as modifications. Eliminated catalog bloat.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846320" y="1508760"/>
            <a:ext cx="3931920" cy="3273552"/>
          </a:xfrm>
          <a:prstGeom prst="rect">
            <a:avLst/>
          </a:prstGeom>
          <a:solidFill>
            <a:srgbClr val="F1F5F9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846320" y="1508760"/>
            <a:ext cx="3931920" cy="274320"/>
          </a:xfrm>
          <a:prstGeom prst="rect">
            <a:avLst/>
          </a:prstGeom>
          <a:solidFill>
            <a:srgbClr val="E8ECEF"/>
          </a:solidFill>
          <a:ln/>
        </p:spPr>
      </p:sp>
      <p:sp>
        <p:nvSpPr>
          <p:cNvPr id="24" name="Shape 22"/>
          <p:cNvSpPr/>
          <p:nvPr/>
        </p:nvSpPr>
        <p:spPr>
          <a:xfrm>
            <a:off x="4937760" y="1600200"/>
            <a:ext cx="91440" cy="91440"/>
          </a:xfrm>
          <a:prstGeom prst="ellipse">
            <a:avLst/>
          </a:prstGeom>
          <a:solidFill>
            <a:srgbClr val="E55555"/>
          </a:solidFill>
          <a:ln/>
        </p:spPr>
      </p:sp>
      <p:sp>
        <p:nvSpPr>
          <p:cNvPr id="25" name="Shape 23"/>
          <p:cNvSpPr/>
          <p:nvPr/>
        </p:nvSpPr>
        <p:spPr>
          <a:xfrm>
            <a:off x="5102352" y="1600200"/>
            <a:ext cx="91440" cy="91440"/>
          </a:xfrm>
          <a:prstGeom prst="ellipse">
            <a:avLst/>
          </a:prstGeom>
          <a:solidFill>
            <a:srgbClr val="F5A623"/>
          </a:solidFill>
          <a:ln/>
        </p:spPr>
      </p:sp>
      <p:sp>
        <p:nvSpPr>
          <p:cNvPr id="26" name="Shape 24"/>
          <p:cNvSpPr/>
          <p:nvPr/>
        </p:nvSpPr>
        <p:spPr>
          <a:xfrm>
            <a:off x="5266944" y="1600200"/>
            <a:ext cx="91440" cy="91440"/>
          </a:xfrm>
          <a:prstGeom prst="ellipse">
            <a:avLst/>
          </a:prstGeom>
          <a:solidFill>
            <a:srgbClr val="27C03A"/>
          </a:solidFill>
          <a:ln/>
        </p:spPr>
      </p:sp>
      <p:sp>
        <p:nvSpPr>
          <p:cNvPr id="27" name="Shape 25"/>
          <p:cNvSpPr/>
          <p:nvPr/>
        </p:nvSpPr>
        <p:spPr>
          <a:xfrm>
            <a:off x="5394960" y="1563624"/>
            <a:ext cx="3273552" cy="164592"/>
          </a:xfrm>
          <a:prstGeom prst="roundRect">
            <a:avLst>
              <a:gd name="adj" fmla="val 27778"/>
            </a:avLst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40680" y="1563624"/>
            <a:ext cx="3200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9CA3AF"/>
                </a:solidFill>
              </a:rPr>
              <a:t>gkit.com.ua</a:t>
            </a:r>
            <a:endParaRPr lang="en-US" sz="650" dirty="0"/>
          </a:p>
        </p:txBody>
      </p:sp>
      <p:sp>
        <p:nvSpPr>
          <p:cNvPr id="29" name="Shape 27"/>
          <p:cNvSpPr/>
          <p:nvPr/>
        </p:nvSpPr>
        <p:spPr>
          <a:xfrm>
            <a:off x="4846320" y="1783080"/>
            <a:ext cx="3931920" cy="237744"/>
          </a:xfrm>
          <a:prstGeom prst="rect">
            <a:avLst/>
          </a:prstGeom>
          <a:solidFill>
            <a:srgbClr val="FFFFFF"/>
          </a:solidFill>
          <a:ln w="6350">
            <a:solidFill>
              <a:srgbClr val="F3F4F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19472" y="1783080"/>
            <a:ext cx="37856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50" dirty="0">
                <a:solidFill>
                  <a:srgbClr val="374151"/>
                </a:solidFill>
              </a:rPr>
              <a:t>GKIT  |  Men  Women  Kids  Accessories  Brands</a:t>
            </a:r>
            <a:endParaRPr lang="en-US" sz="650" dirty="0"/>
          </a:p>
        </p:txBody>
      </p:sp>
      <p:sp>
        <p:nvSpPr>
          <p:cNvPr id="31" name="Text 29"/>
          <p:cNvSpPr/>
          <p:nvPr/>
        </p:nvSpPr>
        <p:spPr>
          <a:xfrm>
            <a:off x="4937760" y="205740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dirty="0">
                <a:solidFill>
                  <a:srgbClr val="6B7280"/>
                </a:solidFill>
              </a:rPr>
              <a:t>Home / Footwear / Men's Sneakers</a:t>
            </a:r>
            <a:endParaRPr lang="en-US" sz="600" dirty="0"/>
          </a:p>
        </p:txBody>
      </p:sp>
      <p:sp>
        <p:nvSpPr>
          <p:cNvPr id="32" name="Text 30"/>
          <p:cNvSpPr/>
          <p:nvPr/>
        </p:nvSpPr>
        <p:spPr>
          <a:xfrm>
            <a:off x="4937760" y="220370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11827"/>
                </a:solidFill>
              </a:rPr>
              <a:t>Men's Sneakers</a:t>
            </a:r>
            <a:endParaRPr lang="en-US" sz="900" dirty="0"/>
          </a:p>
        </p:txBody>
      </p:sp>
      <p:pic>
        <p:nvPicPr>
          <p:cNvPr id="33" name="Image 0" descr="/sessions/happy-elegant-ritchie/mnt/outputs/ss_nav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846320" y="1783080"/>
            <a:ext cx="3931920" cy="1349654"/>
          </a:xfrm>
          <a:prstGeom prst="rect">
            <a:avLst/>
          </a:prstGeom>
        </p:spPr>
      </p:pic>
      <p:pic>
        <p:nvPicPr>
          <p:cNvPr id="34" name="Image 1" descr="/sessions/happy-elegant-ritchie/mnt/outputs/ss_products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846320" y="3132734"/>
            <a:ext cx="3931920" cy="1649578"/>
          </a:xfrm>
          <a:prstGeom prst="rect">
            <a:avLst/>
          </a:prstGeom>
        </p:spPr>
      </p:pic>
      <p:sp>
        <p:nvSpPr>
          <p:cNvPr id="35" name="Shape 31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6" name="Text 32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Result: clean architecture, SEO-ready from the first commit.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42316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2 · CRM INTEGRATION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KeepinCRM &lt;-&gt; OpenCart Architecture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Designing bidirectional data flow so the CRM is the single source of truth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KeepinCRM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Inventory · Pricing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data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6616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OpenCart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56616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Storefront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Product pages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492240" y="1874520"/>
            <a:ext cx="2194560" cy="100584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83680" y="198424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Customer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836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Browse · Cart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Checkout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2651760" y="226771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2578608" y="2084832"/>
            <a:ext cx="9692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Product sync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0D9488"/>
                </a:solidFill>
              </a:rPr>
              <a:t>(CRM -&gt; Site)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651760" y="2496312"/>
            <a:ext cx="822960" cy="91440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18" name="Text 16"/>
          <p:cNvSpPr/>
          <p:nvPr/>
        </p:nvSpPr>
        <p:spPr>
          <a:xfrm>
            <a:off x="2578608" y="2651760"/>
            <a:ext cx="9692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Orders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14B8A6"/>
                </a:solidFill>
              </a:rPr>
              <a:t>(Site -&gt; CRM)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5669280" y="2313432"/>
            <a:ext cx="822960" cy="9144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Parent + Variations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400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One product card per model. Sizes &amp; colors as OpenCart modifications — eliminating 80%+ of duplicate SKUs.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800600" y="312724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00600" y="312724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319125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Sync Marker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983480" y="342900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Each CRM product has an "Update to site?" toggle. Changes only push when the manager explicitly enables sync.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572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572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Field Standardisation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00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All filter attributes (Type, Season, Collection, Purpose) use dropdown fields — preventing free-text typos from creating garbage filters.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800600" y="3904488"/>
            <a:ext cx="40233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800600" y="3904488"/>
            <a:ext cx="54864" cy="6858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396849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CDN for Media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983480" y="4206240"/>
            <a:ext cx="37490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 images stored on CDN (bunny.net). CRM stores URLs only. Browser fetches images from nearest edge node.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7" name="Text 35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CRM as the single source of truth — inventory, pricing, and product data flow automatically to the storefront.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225491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22549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3 · TECHNICAL SEO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SEO-Ready Architecture, Built Before Launch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Technical audit delivered before go-live, not as a post-launch patch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SSL &amp; HTTPS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400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HTTPS enforced with 301 redirect from HTTP on every URL. Prerequisite for all crawling and ranking.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800600" y="1572768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800600" y="1572768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4983480" y="163677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hreflang Tags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983480" y="187452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Ukrainian (uk) and Russian (ru) versions linked with correct x-default. No duplicate content penalty.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URL Structure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400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Hyphenated slugs, no Cyrillic, consistent trailing slashes. Filter URLs use human-readable format.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800600" y="2368296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800600" y="2368296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Text 18"/>
          <p:cNvSpPr/>
          <p:nvPr/>
        </p:nvSpPr>
        <p:spPr>
          <a:xfrm>
            <a:off x="4983480" y="243230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Schema.org Markup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983480" y="2670048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Product, BreadcrumbList, and Organization types implemented. Rich snippets ready on day one.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Canonicals &amp; Indexation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00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Filter pages use canonical to parent category. Cart, checkout, and search results marked noindex.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800600" y="3163824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00600" y="3163824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8" name="Text 26"/>
          <p:cNvSpPr/>
          <p:nvPr/>
        </p:nvSpPr>
        <p:spPr>
          <a:xfrm>
            <a:off x="4983480" y="322783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Image Optimisation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983480" y="3465576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WebP format, lazy loading, descriptive ALT attributes. All product images optimised at import.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572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Text 30"/>
          <p:cNvSpPr/>
          <p:nvPr/>
        </p:nvSpPr>
        <p:spPr>
          <a:xfrm>
            <a:off x="6400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Competitor Analysis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 key competitors mapped (yesoriginal, allstars, answear, prm). Link strategy and filter indexation logic derived from their best practices.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800600" y="3959352"/>
            <a:ext cx="4023360" cy="71323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63500" dist="12700" dir="8100000">
              <a:srgbClr val="000000">
                <a:alpha val="10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800600" y="3959352"/>
            <a:ext cx="54864" cy="7132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6" name="Text 34"/>
          <p:cNvSpPr/>
          <p:nvPr/>
        </p:nvSpPr>
        <p:spPr>
          <a:xfrm>
            <a:off x="4983480" y="402336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11827"/>
                </a:solidFill>
              </a:rPr>
              <a:t>Sitemap &amp; Robots.txt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983480" y="4261104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Sitemap generated post-launch. Robots.txt configured to allow crawling of all indexed pages and block all tech pages.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Full tech audit completed before release. Zero technical debt handed to the organic channel.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1918411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191841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PHASE 4 · ANALYTICS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Full Measurement Stack — Configured Before First Visit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GA4 + GTM + GSC implemented, tested, and verified. Ecommerce tracking live on launch day.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GA4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63040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Analytics 4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640080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Data stream configured with measurement ID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module: product impressions, add-to-cart, purchases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First test transactions recorded in GA4 before go-live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310128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310128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18" name="Text 16"/>
          <p:cNvSpPr/>
          <p:nvPr/>
        </p:nvSpPr>
        <p:spPr>
          <a:xfrm>
            <a:off x="3447288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GTM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4315968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Tag Manager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3493008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3694176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Container installed across all site pages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3493008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3" name="Text 21"/>
          <p:cNvSpPr/>
          <p:nvPr/>
        </p:nvSpPr>
        <p:spPr>
          <a:xfrm>
            <a:off x="3694176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All marketing tags managed without developer intervention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493008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25" name="Text 23"/>
          <p:cNvSpPr/>
          <p:nvPr/>
        </p:nvSpPr>
        <p:spPr>
          <a:xfrm>
            <a:off x="3694176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Ecommerce data layer structured for GA4 events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163056" y="1572768"/>
            <a:ext cx="2651760" cy="2971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163056" y="1572768"/>
            <a:ext cx="2651760" cy="5029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8" name="Text 26"/>
          <p:cNvSpPr/>
          <p:nvPr/>
        </p:nvSpPr>
        <p:spPr>
          <a:xfrm>
            <a:off x="6300216" y="1609344"/>
            <a:ext cx="914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</a:rPr>
              <a:t>GSC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168896" y="166420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7D4D2"/>
                </a:solidFill>
              </a:rPr>
              <a:t>Google Search Console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6345936" y="2286000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1" name="Text 29"/>
          <p:cNvSpPr/>
          <p:nvPr/>
        </p:nvSpPr>
        <p:spPr>
          <a:xfrm>
            <a:off x="6547104" y="2212848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Property verified via HTML file upload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345936" y="3035808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547104" y="2962656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Sitemap submitted post-launch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6345936" y="3785616"/>
            <a:ext cx="118872" cy="118872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6547104" y="3712464"/>
            <a:ext cx="2148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74151"/>
                </a:solidFill>
              </a:rPr>
              <a:t>Indexed coverage tracked from day 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57200" y="4617720"/>
            <a:ext cx="8229600" cy="347472"/>
          </a:xfrm>
          <a:prstGeom prst="rect">
            <a:avLst/>
          </a:prstGeom>
          <a:solidFill>
            <a:srgbClr val="217070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4636008"/>
            <a:ext cx="8046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  Ecommerce transactions recording in GA4    GSC ownership verified    GTM container optimised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39" name="Text 37"/>
          <p:cNvSpPr/>
          <p:nvPr/>
        </p:nvSpPr>
        <p:spPr>
          <a:xfrm>
            <a:off x="457200" y="477316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Measurement-first approach — every click, session, and conversion tracked from launch.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6F4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914400" cy="256032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92608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50" kern="0" dirty="0">
                <a:solidFill>
                  <a:srgbClr val="FFFFFF"/>
                </a:solidFill>
              </a:rPr>
              <a:t>RESULTS</a:t>
            </a:r>
            <a:endParaRPr lang="en-US" sz="750" dirty="0"/>
          </a:p>
        </p:txBody>
      </p:sp>
      <p:sp>
        <p:nvSpPr>
          <p:cNvPr id="4" name="Text 2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11827"/>
                </a:solidFill>
              </a:rPr>
              <a:t>Month 1 Organic Performance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March 2026 — first full month after launch. All data from Google Search Console &amp; GA4.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11480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2,600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66344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Impressions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319272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392424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42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374136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227064" y="1481328"/>
            <a:ext cx="2697480" cy="822960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300216" y="1536192"/>
            <a:ext cx="2551176" cy="42793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85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281928" y="1925726"/>
            <a:ext cx="2587752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Organic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11480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84632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1.6%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66344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Click-Through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Rate (CTR)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319272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392424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#24.3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3374136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Average Search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Position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227064" y="2377440"/>
            <a:ext cx="2697480" cy="713232"/>
          </a:xfrm>
          <a:prstGeom prst="rect">
            <a:avLst/>
          </a:prstGeom>
          <a:solidFill>
            <a:srgbClr val="226060"/>
          </a:solidFill>
          <a:ln/>
          <a:effectLst>
            <a:outerShdw sx="100000" sy="100000" kx="0" ky="0" algn="bl" rotWithShape="0" blurRad="1016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300216" y="2432304"/>
            <a:ext cx="2551176" cy="3708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58.82%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81928" y="2762585"/>
            <a:ext cx="2587752" cy="2995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Session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A7D4D2"/>
                </a:solidFill>
              </a:rPr>
              <a:t>Engagement Rate</a:t>
            </a:r>
            <a:endParaRPr lang="en-US" sz="850" dirty="0"/>
          </a:p>
        </p:txBody>
      </p:sp>
      <p:graphicFrame>
        <p:nvGraphicFramePr>
          <p:cNvPr id="24" name="Chart 0" descr=""/>
          <p:cNvGraphicFramePr/>
          <p:nvPr/>
        </p:nvGraphicFramePr>
        <p:xfrm>
          <a:off x="411480" y="3163824"/>
          <a:ext cx="8321040" cy="1517904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5" name="Shape 22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226060"/>
          </a:solidFill>
          <a:ln/>
        </p:spPr>
      </p:sp>
      <p:sp>
        <p:nvSpPr>
          <p:cNvPr id="26" name="Text 23"/>
          <p:cNvSpPr/>
          <p:nvPr/>
        </p:nvSpPr>
        <p:spPr>
          <a:xfrm>
            <a:off x="457200" y="4754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A7D4D2"/>
                </a:solidFill>
              </a:rPr>
              <a:t>New store ranking page 3 average within weeks of launch — impressions +50x, upward trajectory confirmed.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484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2700000">
            <a:off x="-2743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2700000">
            <a:off x="-2743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700000">
            <a:off x="-2743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2700000">
            <a:off x="-2743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2700000">
            <a:off x="-2743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2700000">
            <a:off x="-2743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 rot="2700000">
            <a:off x="-2743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 rot="2700000">
            <a:off x="-2743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 rot="2700000">
            <a:off x="6858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 rot="2700000">
            <a:off x="6858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2700000">
            <a:off x="6858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 rot="2700000">
            <a:off x="6858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rot="2700000">
            <a:off x="6858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rot="2700000">
            <a:off x="6858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 rot="2700000">
            <a:off x="6858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2700000">
            <a:off x="6858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 rot="2700000">
            <a:off x="16459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 rot="2700000">
            <a:off x="16459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rot="2700000">
            <a:off x="16459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 rot="2700000">
            <a:off x="16459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 rot="2700000">
            <a:off x="16459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 rot="2700000">
            <a:off x="16459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2700000">
            <a:off x="16459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 rot="2700000">
            <a:off x="16459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 rot="2700000">
            <a:off x="26060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 rot="2700000">
            <a:off x="26060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 rot="2700000">
            <a:off x="26060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2700000">
            <a:off x="26060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2700000">
            <a:off x="26060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2700000">
            <a:off x="26060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2700000">
            <a:off x="26060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 rot="2700000">
            <a:off x="26060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 rot="2700000">
            <a:off x="35661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 rot="2700000">
            <a:off x="35661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 rot="2700000">
            <a:off x="35661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 rot="2700000">
            <a:off x="35661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2700000">
            <a:off x="35661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2700000">
            <a:off x="35661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2700000">
            <a:off x="35661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 rot="2700000">
            <a:off x="35661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 rot="2700000">
            <a:off x="452628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2700000">
            <a:off x="452628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2700000">
            <a:off x="452628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 rot="2700000">
            <a:off x="452628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 rot="2700000">
            <a:off x="452628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2700000">
            <a:off x="452628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 rot="2700000">
            <a:off x="452628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 rot="2700000">
            <a:off x="452628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 rot="2700000">
            <a:off x="548640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 rot="2700000">
            <a:off x="548640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2700000">
            <a:off x="548640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 rot="2700000">
            <a:off x="548640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 rot="2700000">
            <a:off x="548640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 rot="2700000">
            <a:off x="548640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2700000">
            <a:off x="548640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 rot="2700000">
            <a:off x="548640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 rot="2700000">
            <a:off x="644652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 rot="2700000">
            <a:off x="644652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 rot="2700000">
            <a:off x="644652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2700000">
            <a:off x="644652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 rot="2700000">
            <a:off x="644652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 rot="2700000">
            <a:off x="644652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 rot="2700000">
            <a:off x="644652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2700000">
            <a:off x="644652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 rot="2700000">
            <a:off x="740664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 rot="2700000">
            <a:off x="740664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 rot="2700000">
            <a:off x="740664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 rot="2700000">
            <a:off x="740664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2700000">
            <a:off x="740664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 rot="2700000">
            <a:off x="740664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 rot="2700000">
            <a:off x="740664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 rot="2700000">
            <a:off x="740664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 rot="2700000">
            <a:off x="8366760" y="-22860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 rot="2700000">
            <a:off x="8366760" y="48463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 rot="2700000">
            <a:off x="8366760" y="119786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 rot="2700000">
            <a:off x="8366760" y="1911096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 rot="2700000">
            <a:off x="8366760" y="2624328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2700000">
            <a:off x="8366760" y="3337560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 rot="2700000">
            <a:off x="8366760" y="4050792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 rot="2700000">
            <a:off x="8366760" y="4764024"/>
            <a:ext cx="365760" cy="365760"/>
          </a:xfrm>
          <a:prstGeom prst="rect">
            <a:avLst/>
          </a:prstGeom>
          <a:solidFill>
            <a:srgbClr val="FFFFFF">
              <a:alpha val="10000"/>
            </a:srgbClr>
          </a:solidFill>
          <a:ln w="508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0" y="0"/>
            <a:ext cx="5943600" cy="5143500"/>
          </a:xfrm>
          <a:prstGeom prst="rect">
            <a:avLst/>
          </a:prstGeom>
          <a:solidFill>
            <a:srgbClr val="1E4848">
              <a:alpha val="85000"/>
            </a:srgbClr>
          </a:solidFill>
          <a:ln/>
        </p:spPr>
      </p:sp>
      <p:sp>
        <p:nvSpPr>
          <p:cNvPr id="83" name="Text 81"/>
          <p:cNvSpPr/>
          <p:nvPr/>
        </p:nvSpPr>
        <p:spPr>
          <a:xfrm>
            <a:off x="365760" y="2743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ITForce</a:t>
            </a:r>
            <a:endParaRPr lang="en-US" sz="1600" dirty="0"/>
          </a:p>
        </p:txBody>
      </p:sp>
      <p:sp>
        <p:nvSpPr>
          <p:cNvPr id="84" name="Shape 82"/>
          <p:cNvSpPr/>
          <p:nvPr/>
        </p:nvSpPr>
        <p:spPr>
          <a:xfrm>
            <a:off x="7635240" y="320040"/>
            <a:ext cx="1051560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635240" y="320040"/>
            <a:ext cx="1051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E-Commerce</a:t>
            </a:r>
            <a:endParaRPr lang="en-US" sz="750" dirty="0"/>
          </a:p>
        </p:txBody>
      </p:sp>
      <p:sp>
        <p:nvSpPr>
          <p:cNvPr id="86" name="Shape 84"/>
          <p:cNvSpPr/>
          <p:nvPr/>
        </p:nvSpPr>
        <p:spPr>
          <a:xfrm>
            <a:off x="7790688" y="621792"/>
            <a:ext cx="89611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7790688" y="621792"/>
            <a:ext cx="896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OpenCart</a:t>
            </a:r>
            <a:endParaRPr lang="en-US" sz="750" dirty="0"/>
          </a:p>
        </p:txBody>
      </p:sp>
      <p:sp>
        <p:nvSpPr>
          <p:cNvPr id="88" name="Shape 86"/>
          <p:cNvSpPr/>
          <p:nvPr/>
        </p:nvSpPr>
        <p:spPr>
          <a:xfrm>
            <a:off x="7013448" y="923544"/>
            <a:ext cx="1673352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7013448" y="923544"/>
            <a:ext cx="1673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SEO-Integrated Dev</a:t>
            </a:r>
            <a:endParaRPr lang="en-US" sz="750" dirty="0"/>
          </a:p>
        </p:txBody>
      </p:sp>
      <p:sp>
        <p:nvSpPr>
          <p:cNvPr id="90" name="Shape 88"/>
          <p:cNvSpPr/>
          <p:nvPr/>
        </p:nvSpPr>
        <p:spPr>
          <a:xfrm>
            <a:off x="7324344" y="1225296"/>
            <a:ext cx="1362456" cy="237744"/>
          </a:xfrm>
          <a:prstGeom prst="roundRect">
            <a:avLst>
              <a:gd name="adj" fmla="val 50000"/>
            </a:avLst>
          </a:prstGeom>
          <a:solidFill>
            <a:srgbClr val="FFFFFF">
              <a:alpha val="15000"/>
            </a:srgbClr>
          </a:solidFill>
          <a:ln w="12700">
            <a:solidFill>
              <a:srgbClr val="0D9488">
                <a:alpha val="50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7324344" y="1225296"/>
            <a:ext cx="13624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Fashion Retail</a:t>
            </a:r>
            <a:endParaRPr lang="en-US" sz="750" dirty="0"/>
          </a:p>
        </p:txBody>
      </p:sp>
      <p:sp>
        <p:nvSpPr>
          <p:cNvPr id="92" name="Text 90"/>
          <p:cNvSpPr/>
          <p:nvPr/>
        </p:nvSpPr>
        <p:spPr>
          <a:xfrm>
            <a:off x="365760" y="914400"/>
            <a:ext cx="53035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Launched Right.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Ranking from Day One.</a:t>
            </a:r>
            <a:endParaRPr lang="en-US" sz="3000" dirty="0"/>
          </a:p>
        </p:txBody>
      </p:sp>
      <p:sp>
        <p:nvSpPr>
          <p:cNvPr id="93" name="Shape 91"/>
          <p:cNvSpPr/>
          <p:nvPr/>
        </p:nvSpPr>
        <p:spPr>
          <a:xfrm>
            <a:off x="365760" y="2788920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4" name="Text 92"/>
          <p:cNvSpPr/>
          <p:nvPr/>
        </p:nvSpPr>
        <p:spPr>
          <a:xfrm>
            <a:off x="566928" y="269748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Full OpenCart development with SEO-ready architecture from mockup stage</a:t>
            </a:r>
            <a:endParaRPr lang="en-US" sz="1000" dirty="0"/>
          </a:p>
        </p:txBody>
      </p:sp>
      <p:sp>
        <p:nvSpPr>
          <p:cNvPr id="95" name="Shape 93"/>
          <p:cNvSpPr/>
          <p:nvPr/>
        </p:nvSpPr>
        <p:spPr>
          <a:xfrm>
            <a:off x="365760" y="3209544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6" name="Text 94"/>
          <p:cNvSpPr/>
          <p:nvPr/>
        </p:nvSpPr>
        <p:spPr>
          <a:xfrm>
            <a:off x="566928" y="3118104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KeepinCRM integration with bidirectional product &amp; order sync</a:t>
            </a:r>
            <a:endParaRPr lang="en-US" sz="1000" dirty="0"/>
          </a:p>
        </p:txBody>
      </p:sp>
      <p:sp>
        <p:nvSpPr>
          <p:cNvPr id="97" name="Shape 95"/>
          <p:cNvSpPr/>
          <p:nvPr/>
        </p:nvSpPr>
        <p:spPr>
          <a:xfrm>
            <a:off x="365760" y="3630168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98" name="Text 96"/>
          <p:cNvSpPr/>
          <p:nvPr/>
        </p:nvSpPr>
        <p:spPr>
          <a:xfrm>
            <a:off x="566928" y="353872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Complete technical SEO: hreflang, Schema.org, canonical, URL rules</a:t>
            </a:r>
            <a:endParaRPr lang="en-US" sz="1000" dirty="0"/>
          </a:p>
        </p:txBody>
      </p:sp>
      <p:sp>
        <p:nvSpPr>
          <p:cNvPr id="99" name="Shape 97"/>
          <p:cNvSpPr/>
          <p:nvPr/>
        </p:nvSpPr>
        <p:spPr>
          <a:xfrm>
            <a:off x="365760" y="4050792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0" name="Text 98"/>
          <p:cNvSpPr/>
          <p:nvPr/>
        </p:nvSpPr>
        <p:spPr>
          <a:xfrm>
            <a:off x="566928" y="3959352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GA4 + GTM + GSC configured — ecommerce tracking live on launch day</a:t>
            </a:r>
            <a:endParaRPr lang="en-US" sz="1000" dirty="0"/>
          </a:p>
        </p:txBody>
      </p:sp>
      <p:sp>
        <p:nvSpPr>
          <p:cNvPr id="101" name="Shape 99"/>
          <p:cNvSpPr/>
          <p:nvPr/>
        </p:nvSpPr>
        <p:spPr>
          <a:xfrm>
            <a:off x="365760" y="4471416"/>
            <a:ext cx="109728" cy="109728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02" name="Text 100"/>
          <p:cNvSpPr/>
          <p:nvPr/>
        </p:nvSpPr>
        <p:spPr>
          <a:xfrm>
            <a:off x="566928" y="437997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A7D4D2"/>
                </a:solidFill>
              </a:rPr>
              <a:t>Position 24.3 average with confirmed upward trend in Month 1</a:t>
            </a:r>
            <a:endParaRPr lang="en-US" sz="1000" dirty="0"/>
          </a:p>
        </p:txBody>
      </p:sp>
      <p:sp>
        <p:nvSpPr>
          <p:cNvPr id="103" name="Shape 101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02A2A"/>
          </a:solidFill>
          <a:ln/>
        </p:spPr>
      </p:sp>
      <p:sp>
        <p:nvSpPr>
          <p:cNvPr id="104" name="Text 102"/>
          <p:cNvSpPr/>
          <p:nvPr/>
        </p:nvSpPr>
        <p:spPr>
          <a:xfrm>
            <a:off x="365760" y="4700016"/>
            <a:ext cx="8412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5AADAD"/>
                </a:solidFill>
              </a:rPr>
              <a:t>ITForce  ·  itforce.ua  ·  Google Ads Premier Partner  ·  Shopify Partner  ·  91 Case Studies Published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GKit – OpenCart Store Build + SEO Launch</dc:title>
  <dc:subject>PptxGenJS Presentation</dc:subject>
  <dc:creator>ITForce</dc:creator>
  <cp:lastModifiedBy>ITForce</cp:lastModifiedBy>
  <cp:revision>1</cp:revision>
  <dcterms:created xsi:type="dcterms:W3CDTF">2026-06-13T18:50:15Z</dcterms:created>
  <dcterms:modified xsi:type="dcterms:W3CDTF">2026-06-13T18:50:15Z</dcterms:modified>
</cp:coreProperties>
</file>