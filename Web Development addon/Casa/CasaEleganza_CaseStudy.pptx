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pic>
        <p:nvPicPr>
          <p:cNvPr id="4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384048"/>
            <a:ext cx="1008583" cy="237744"/>
          </a:xfrm>
          <a:prstGeom prst="roundRect">
            <a:avLst>
              <a:gd name="adj" fmla="val 46154"/>
            </a:avLst>
          </a:prstGeom>
          <a:solidFill>
            <a:srgbClr val="F9F4E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402336"/>
            <a:ext cx="10085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5A5A"/>
                </a:solidFill>
              </a:rPr>
              <a:t>Shopify 2.0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609344" y="384048"/>
            <a:ext cx="875081" cy="237744"/>
          </a:xfrm>
          <a:prstGeom prst="roundRect">
            <a:avLst>
              <a:gd name="adj" fmla="val 46154"/>
            </a:avLst>
          </a:prstGeom>
          <a:solidFill>
            <a:srgbClr val="EDE8D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9344" y="402336"/>
            <a:ext cx="875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5A5A"/>
                </a:solidFill>
              </a:rPr>
              <a:t>Furniture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71216" y="384048"/>
            <a:ext cx="474574" cy="237744"/>
          </a:xfrm>
          <a:prstGeom prst="roundRect">
            <a:avLst>
              <a:gd name="adj" fmla="val 46154"/>
            </a:avLst>
          </a:prstGeom>
          <a:solidFill>
            <a:srgbClr val="EDE8D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71216" y="402336"/>
            <a:ext cx="474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5A5A"/>
                </a:solidFill>
              </a:rPr>
              <a:t>B2C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777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Design.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347472" y="1417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American Conversion.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347472" y="2157984"/>
            <a:ext cx="3291840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22677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</a:rPr>
              <a:t>Custom Shopify development for a premium furniture retailer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</a:rPr>
              <a:t>with showrooms in Miami and New Jersey.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7472" y="30175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500+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47472" y="34747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SKUs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682496" y="30175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2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1682496" y="34747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Showrooms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017520" y="30175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36-mo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3017520" y="34747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Financing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47472" y="3840480"/>
            <a:ext cx="1920240" cy="329184"/>
          </a:xfrm>
          <a:prstGeom prst="roundRect">
            <a:avLst>
              <a:gd name="adj" fmla="val 2777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A35A"/>
                </a:solidFill>
              </a:rPr>
              <a:t>✦  Luxury Shopify Build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26280" y="201168"/>
            <a:ext cx="4434840" cy="237744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228600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(305) 549-5550  ·  0% Financing for 36 Month  ·  Find a Store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526280" y="438912"/>
            <a:ext cx="4434840" cy="347472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475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A35A"/>
                </a:solidFill>
              </a:rPr>
              <a:t>CASA ELEGANZA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LIVING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858000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BEDROOM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452360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DINING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46720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OFFICE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641080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DECOR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26280" y="786384"/>
            <a:ext cx="4434840" cy="1280160"/>
          </a:xfrm>
          <a:prstGeom prst="rect">
            <a:avLst/>
          </a:prstGeom>
          <a:solidFill>
            <a:srgbClr val="0D1928"/>
          </a:solidFill>
          <a:ln w="12700">
            <a:solidFill>
              <a:srgbClr val="0D192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09160" y="91440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C4A35A">
              <a:alpha val="15000"/>
            </a:srgbClr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9235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4A35A"/>
                </a:solidFill>
              </a:rPr>
              <a:t>ITALIAN DESIGN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1170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Design Excellence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709160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0"/>
                </a:solidFill>
              </a:rPr>
              <a:t>Authentic Italian furniture that elevates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5C0"/>
                </a:solidFill>
              </a:rPr>
              <a:t>your home with timeless elegance.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709160" y="1938528"/>
            <a:ext cx="1188720" cy="237744"/>
          </a:xfrm>
          <a:prstGeom prst="roundRect">
            <a:avLst>
              <a:gd name="adj" fmla="val 30769"/>
            </a:avLst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09160" y="1956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Shop Collections →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26280" y="2066544"/>
            <a:ext cx="4434840" cy="2926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0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A35A"/>
                </a:solidFill>
              </a:rPr>
              <a:t>Up to 50–70% OFF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035040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A35A"/>
                </a:solidFill>
              </a:rPr>
              <a:t>0% Interest / 36 mo.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498080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A35A"/>
                </a:solidFill>
              </a:rPr>
              <a:t>Free Delivery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636008" y="2414016"/>
            <a:ext cx="1005840" cy="1261872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90872" y="2450592"/>
            <a:ext cx="896112" cy="713232"/>
          </a:xfrm>
          <a:prstGeom prst="roundRect">
            <a:avLst>
              <a:gd name="adj" fmla="val 5128"/>
            </a:avLst>
          </a:prstGeom>
          <a:solidFill>
            <a:srgbClr val="1A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90872" y="320040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A35A"/>
                </a:solidFill>
              </a:rPr>
              <a:t>GIORGIO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690872" y="33649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Mirage Sofa Table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724144" y="2414016"/>
            <a:ext cx="1005840" cy="1261872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79008" y="2450592"/>
            <a:ext cx="896112" cy="713232"/>
          </a:xfrm>
          <a:prstGeom prst="roundRect">
            <a:avLst>
              <a:gd name="adj" fmla="val 5128"/>
            </a:avLst>
          </a:prstGeom>
          <a:solidFill>
            <a:srgbClr val="1A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779008" y="320040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A35A"/>
                </a:solidFill>
              </a:rPr>
              <a:t>GIORGIO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779008" y="33649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Vision Vanity Desk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812280" y="2414016"/>
            <a:ext cx="1005840" cy="1261872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867144" y="2450592"/>
            <a:ext cx="896112" cy="713232"/>
          </a:xfrm>
          <a:prstGeom prst="roundRect">
            <a:avLst>
              <a:gd name="adj" fmla="val 5128"/>
            </a:avLst>
          </a:prstGeom>
          <a:solidFill>
            <a:srgbClr val="1A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67144" y="320040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A35A"/>
                </a:solidFill>
              </a:rPr>
              <a:t>GIORGIO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6867144" y="33649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Charisma Bed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7900416" y="2414016"/>
            <a:ext cx="1005840" cy="1261872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2450592"/>
            <a:ext cx="896112" cy="713232"/>
          </a:xfrm>
          <a:prstGeom prst="roundRect">
            <a:avLst>
              <a:gd name="adj" fmla="val 5128"/>
            </a:avLst>
          </a:prstGeom>
          <a:solidFill>
            <a:srgbClr val="1A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955280" y="320040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A35A"/>
                </a:solidFill>
              </a:rPr>
              <a:t>GIORGIO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7955280" y="33649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Charisma Desk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617720" y="3749040"/>
            <a:ext cx="1371600" cy="237744"/>
          </a:xfrm>
          <a:prstGeom prst="roundRect">
            <a:avLst>
              <a:gd name="adj" fmla="val 30769"/>
            </a:avLst>
          </a:prstGeom>
          <a:solidFill>
            <a:srgbClr val="C4A35A">
              <a:alpha val="12000"/>
            </a:srgbClr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61772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</a:rPr>
              <a:t>View Collection →</a:t>
            </a:r>
            <a:endParaRPr lang="en-US" sz="900" dirty="0"/>
          </a:p>
        </p:txBody>
      </p:sp>
      <p:pic>
        <p:nvPicPr>
          <p:cNvPr id="61" name="Image 1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258214" cy="237744"/>
          </a:xfrm>
          <a:prstGeom prst="roundRect">
            <a:avLst>
              <a:gd name="adj" fmla="val 50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1258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01 / Challenge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5120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furniture.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104241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theme that didn't match.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572768"/>
            <a:ext cx="3840480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Casa Eleganza sells $15,000 leather sectionals. Their Shopify store looked like a commodity shop. Filtering was basic, the 36-month financing offer was buried in the footer, and luxury items from the Giorgio Collection showed "Call for price" with no lead capture.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2542032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57860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8883A"/>
                </a:solidFill>
              </a:rPr>
              <a:t>The brand. The inventory. The showrooms. The store wasn't doing them justice.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3054096"/>
            <a:ext cx="1920240" cy="896112"/>
          </a:xfrm>
          <a:prstGeom prst="roundRect">
            <a:avLst>
              <a:gd name="adj" fmla="val 10204"/>
            </a:avLst>
          </a:prstGeom>
          <a:solidFill>
            <a:srgbClr val="F8F5F0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3054096"/>
            <a:ext cx="192024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4553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Generic Shopify theme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Didn't reflect the quality or exclusivity of the products.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14016" y="3054096"/>
            <a:ext cx="1920240" cy="896112"/>
          </a:xfrm>
          <a:prstGeom prst="roundRect">
            <a:avLst>
              <a:gd name="adj" fmla="val 10204"/>
            </a:avLst>
          </a:prstGeom>
          <a:solidFill>
            <a:srgbClr val="F8F5F0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14016" y="3054096"/>
            <a:ext cx="192024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314553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No advanced filtering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23744" y="343814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Couldn't filter by material, style, room, or availability.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4059936"/>
            <a:ext cx="1920240" cy="896112"/>
          </a:xfrm>
          <a:prstGeom prst="roundRect">
            <a:avLst>
              <a:gd name="adj" fmla="val 10204"/>
            </a:avLst>
          </a:prstGeom>
          <a:solidFill>
            <a:srgbClr val="F8F5F0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4059936"/>
            <a:ext cx="192024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5137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Financing buried in footer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44398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0% / 36-mo offer invisible to most shoppers.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14016" y="4059936"/>
            <a:ext cx="1920240" cy="896112"/>
          </a:xfrm>
          <a:prstGeom prst="roundRect">
            <a:avLst>
              <a:gd name="adj" fmla="val 10204"/>
            </a:avLst>
          </a:prstGeom>
          <a:solidFill>
            <a:srgbClr val="F8F5F0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14016" y="4059936"/>
            <a:ext cx="192024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415137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No lead capture for luxury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23744" y="444398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"Call for price" items had nowhere for serious buyers to inquire.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28016"/>
            <a:ext cx="4297680" cy="47548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28016"/>
            <a:ext cx="0" cy="292608"/>
          </a:xfrm>
          <a:prstGeom prst="roundRect">
            <a:avLst>
              <a:gd name="adj" fmla="val Infinity"/>
            </a:avLst>
          </a:prstGeom>
          <a:solidFill>
            <a:srgbClr val="2A2D35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5736" y="219456"/>
            <a:ext cx="100584" cy="100584"/>
          </a:xfrm>
          <a:prstGeom prst="ellipse">
            <a:avLst/>
          </a:prstGeom>
          <a:solidFill>
            <a:srgbClr val="D64444"/>
          </a:solidFill>
          <a:ln w="12700">
            <a:solidFill>
              <a:srgbClr val="D6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219456"/>
            <a:ext cx="100584" cy="100584"/>
          </a:xfrm>
          <a:prstGeom prst="ellipse">
            <a:avLst/>
          </a:prstGeom>
          <a:solidFill>
            <a:srgbClr val="E0953A"/>
          </a:solidFill>
          <a:ln w="12700">
            <a:solidFill>
              <a:srgbClr val="E095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93208" y="219456"/>
            <a:ext cx="100584" cy="1005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19202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1C1F27"/>
          </a:solidFill>
          <a:ln w="12700">
            <a:solidFill>
              <a:srgbClr val="484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192024"/>
            <a:ext cx="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99"/>
                </a:solidFill>
              </a:rPr>
              <a:t>4.7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17720" y="420624"/>
            <a:ext cx="429768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4805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</a:rPr>
              <a:t>Free shipping on orders over $199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67665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731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CASA ELEGANZA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749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LIVING ROOM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59168" y="749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BEDROOM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580376" y="749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DINING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101584" y="749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OFFICE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622792" y="749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SALE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17720" y="1024128"/>
            <a:ext cx="4297680" cy="100584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1521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Furniture for Every Room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00600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Timeless style. Everyday comfort.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1792224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18105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Shop Now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0600" y="2066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Shop Bestsellers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45736" y="2377440"/>
            <a:ext cx="1289304" cy="859536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45736" y="2377440"/>
            <a:ext cx="1289304" cy="4572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8895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Harrison Sectional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305409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6CB0"/>
                </a:solidFill>
              </a:rPr>
              <a:t>$2,599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35624" y="2377440"/>
            <a:ext cx="1289304" cy="859536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35624" y="2377440"/>
            <a:ext cx="1289304" cy="4572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488" y="28895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Oak Dining Table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190488" y="305409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6CB0"/>
                </a:solidFill>
              </a:rPr>
              <a:t>$1,199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25512" y="2377440"/>
            <a:ext cx="1289304" cy="859536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25512" y="2377440"/>
            <a:ext cx="1289304" cy="4572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0376" y="28895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Luca Accent Chair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580376" y="305409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6CB0"/>
                </a:solidFill>
              </a:rPr>
              <a:t>$649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45736" y="3310128"/>
            <a:ext cx="1289304" cy="859536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45736" y="3310128"/>
            <a:ext cx="1289304" cy="4572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382219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Marin Coffee Table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00600" y="398678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6CB0"/>
                </a:solidFill>
              </a:rPr>
              <a:t>$499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35624" y="3310128"/>
            <a:ext cx="1289304" cy="859536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35624" y="3310128"/>
            <a:ext cx="1289304" cy="4572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0488" y="382219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Greta Nightstand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90488" y="398678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6CB0"/>
                </a:solidFill>
              </a:rPr>
              <a:t>$349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525512" y="3310128"/>
            <a:ext cx="1289304" cy="859536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25512" y="3310128"/>
            <a:ext cx="1289304" cy="4572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0376" y="382219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Arden Bed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580376" y="398678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6CB0"/>
                </a:solidFill>
              </a:rPr>
              <a:t>$1,299</a:t>
            </a:r>
            <a:endParaRPr lang="en-US" sz="900" dirty="0"/>
          </a:p>
        </p:txBody>
      </p:sp>
      <p:pic>
        <p:nvPicPr>
          <p:cNvPr id="72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190549" cy="237744"/>
          </a:xfrm>
          <a:prstGeom prst="roundRect">
            <a:avLst>
              <a:gd name="adj" fmla="val 50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11905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02 /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512064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upgrades.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store that sells.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47472" y="15727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</a:rPr>
              <a:t>We rebuilt Casa Eleganza on Shopify 2.0 with a conversion-focused theme, smarter discovery, and financing that removes friction.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2011680"/>
            <a:ext cx="1008583" cy="237744"/>
          </a:xfrm>
          <a:prstGeom prst="roundRect">
            <a:avLst>
              <a:gd name="adj" fmla="val 46154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029968"/>
            <a:ext cx="10085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Shopify 2.0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2011680"/>
            <a:ext cx="1075334" cy="237744"/>
          </a:xfrm>
          <a:prstGeom prst="roundRect">
            <a:avLst>
              <a:gd name="adj" fmla="val 46154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029968"/>
            <a:ext cx="10753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Custom Theme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53712" y="2011680"/>
            <a:ext cx="1609344" cy="237744"/>
          </a:xfrm>
          <a:prstGeom prst="roundRect">
            <a:avLst>
              <a:gd name="adj" fmla="val 46154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0299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Multi-Axis Filtering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56832" y="2011680"/>
            <a:ext cx="1676095" cy="237744"/>
          </a:xfrm>
          <a:prstGeom prst="roundRect">
            <a:avLst>
              <a:gd name="adj" fmla="val 46154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029968"/>
            <a:ext cx="1676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Synchrony Finance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377440"/>
            <a:ext cx="2743200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377440"/>
            <a:ext cx="274320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523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</a:rPr>
              <a:t>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35A"/>
                </a:solidFill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" y="30540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Custom Shopify 2.0 Theme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3776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83A"/>
                </a:solidFill>
              </a:rPr>
              <a:t>Editorial, brand-matched, mobile-first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" y="3675888"/>
            <a:ext cx="2432304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3831336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Full-width room-mood photography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" y="4160520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95+ Lighthouse score on mobile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" y="4489704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Warm palette + custom typography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73552" y="2377440"/>
            <a:ext cx="2743200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3552" y="2377440"/>
            <a:ext cx="274320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38144" y="2523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8144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</a:rPr>
              <a:t>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931920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35A"/>
                </a:solidFill>
              </a:rPr>
              <a:t>02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19856" y="30540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Smart Catalog &amp; Filtering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419856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83A"/>
                </a:solidFill>
              </a:rPr>
              <a:t>Multi-axis filters + room bundler + lead flow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19856" y="3675888"/>
            <a:ext cx="2432304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38144" y="3831336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02736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Filter by material, style, room, availability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38144" y="4160520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02736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Complete the Look room bundles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38144" y="4489704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02736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Giorgio special-order lead form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9632" y="2377440"/>
            <a:ext cx="2743200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99632" y="2377440"/>
            <a:ext cx="274320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64224" y="2523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</a:rPr>
              <a:t>$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858000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35A"/>
                </a:solidFill>
              </a:rPr>
              <a:t>03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45936" y="30540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Inline Financing Widget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6345936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83A"/>
                </a:solidFill>
              </a:rPr>
              <a:t>Synchrony Finance 0%/36-mo on every page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45936" y="3675888"/>
            <a:ext cx="2432304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64224" y="3831336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28816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Monthly payment shown on product page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64224" y="4160520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8816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One-click prequalify flow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64224" y="4489704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8816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Zero friction, higher AOV</a:t>
            </a:r>
            <a:endParaRPr lang="en-US" sz="1100" dirty="0"/>
          </a:p>
        </p:txBody>
      </p:sp>
      <p:pic>
        <p:nvPicPr>
          <p:cNvPr id="57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122883" cy="237744"/>
          </a:xfrm>
          <a:prstGeom prst="roundRect">
            <a:avLst>
              <a:gd name="adj" fmla="val 50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03 / Feature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5120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store as premium as the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furniture inside it.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" y="1627632"/>
            <a:ext cx="3611880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011680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920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Full-width editorial layouts with room-mood photography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487168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395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Custom typography and warm palette matching the brand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962656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8712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Optimized for high-res product imagery: WebP + lazy 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438144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3467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95+ Lighthouse performance score on mobile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391363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822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Smooth section transitions, zero layout shift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28016"/>
            <a:ext cx="4434840" cy="4754880"/>
          </a:xfrm>
          <a:prstGeom prst="roundRect">
            <a:avLst>
              <a:gd name="adj" fmla="val 2887"/>
            </a:avLst>
          </a:prstGeom>
          <a:solidFill>
            <a:srgbClr val="0D1520"/>
          </a:solidFill>
          <a:ln w="12700">
            <a:solidFill>
              <a:srgbClr val="383C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28016"/>
            <a:ext cx="0" cy="292608"/>
          </a:xfrm>
          <a:prstGeom prst="roundRect">
            <a:avLst>
              <a:gd name="adj" fmla="val Infinity"/>
            </a:avLst>
          </a:prstGeom>
          <a:solidFill>
            <a:srgbClr val="2A2D35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219456"/>
            <a:ext cx="100584" cy="100584"/>
          </a:xfrm>
          <a:prstGeom prst="ellipse">
            <a:avLst/>
          </a:prstGeom>
          <a:solidFill>
            <a:srgbClr val="D64444"/>
          </a:solidFill>
          <a:ln w="12700">
            <a:solidFill>
              <a:srgbClr val="D6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219456"/>
            <a:ext cx="100584" cy="100584"/>
          </a:xfrm>
          <a:prstGeom prst="ellipse">
            <a:avLst/>
          </a:prstGeom>
          <a:solidFill>
            <a:srgbClr val="E0953A"/>
          </a:solidFill>
          <a:ln w="12700">
            <a:solidFill>
              <a:srgbClr val="E095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219456"/>
            <a:ext cx="100584" cy="1005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9202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1C1F27"/>
          </a:solidFill>
          <a:ln w="12700">
            <a:solidFill>
              <a:srgbClr val="484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92024"/>
            <a:ext cx="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99"/>
                </a:solidFill>
              </a:rPr>
              <a:t>4.85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80560" y="420624"/>
            <a:ext cx="4434840" cy="219456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3891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B"/>
                </a:solidFill>
              </a:rPr>
              <a:t>FREE DELIVERY &amp; WHITE GLOVE INSTALLATION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640080"/>
            <a:ext cx="443484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2025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694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35A"/>
                </a:solidFill>
              </a:rPr>
              <a:t>C   CASA ELEGANZA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713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LIVING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87768" y="713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BED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17536" y="713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DINING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47304" y="713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OFFICE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577072" y="713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DECOR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80560" y="969264"/>
            <a:ext cx="4434840" cy="1426464"/>
          </a:xfrm>
          <a:prstGeom prst="rect">
            <a:avLst/>
          </a:prstGeom>
          <a:solidFill>
            <a:srgbClr val="0C1828"/>
          </a:solidFill>
          <a:ln w="12700">
            <a:solidFill>
              <a:srgbClr val="0C18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1728" y="1115568"/>
            <a:ext cx="1280160" cy="182880"/>
          </a:xfrm>
          <a:prstGeom prst="roundRect">
            <a:avLst>
              <a:gd name="adj" fmla="val 25000"/>
            </a:avLst>
          </a:prstGeom>
          <a:solidFill>
            <a:srgbClr val="C4A35A">
              <a:alpha val="12000"/>
            </a:srgbClr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1124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4A35A"/>
                </a:solidFill>
              </a:rPr>
              <a:t>CURATED LIVING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81728" y="13533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Timeless Design.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Uncompromised Quality.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4681728" y="2066544"/>
            <a:ext cx="1371600" cy="237744"/>
          </a:xfrm>
          <a:prstGeom prst="roundRect">
            <a:avLst>
              <a:gd name="adj" fmla="val 30769"/>
            </a:avLst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EXPLORE COLLECTIONS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80560" y="2395728"/>
            <a:ext cx="4434840" cy="256032"/>
          </a:xfrm>
          <a:prstGeom prst="rect">
            <a:avLst/>
          </a:prstGeom>
          <a:solidFill>
            <a:srgbClr val="0A0F1A"/>
          </a:solidFill>
          <a:ln w="12700">
            <a:solidFill>
              <a:srgbClr val="2025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SHOP THE LOOK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2706624"/>
            <a:ext cx="1005840" cy="1060704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8576" y="2743200"/>
            <a:ext cx="932688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33467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Luna Sofa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26864" y="35570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</a:rPr>
              <a:t>$6,950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50992" y="2706624"/>
            <a:ext cx="1005840" cy="1060704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87568" y="2743200"/>
            <a:ext cx="932688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33467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Marble Table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05856" y="35570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</a:rPr>
              <a:t>$2,350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29984" y="2706624"/>
            <a:ext cx="1005840" cy="1060704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0" y="2743200"/>
            <a:ext cx="932688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33467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Aurora Lamp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84848" y="35570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</a:rPr>
              <a:t>$1,650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08976" y="2706624"/>
            <a:ext cx="1005840" cy="1060704"/>
          </a:xfrm>
          <a:prstGeom prst="roundRect">
            <a:avLst>
              <a:gd name="adj" fmla="val 5455"/>
            </a:avLst>
          </a:prstGeom>
          <a:solidFill>
            <a:srgbClr val="1C2030"/>
          </a:solidFill>
          <a:ln w="12700">
            <a:solidFill>
              <a:srgbClr val="3038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45552" y="2743200"/>
            <a:ext cx="932688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33467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Velvet Cushion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863840" y="35570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35A"/>
                </a:solidFill>
              </a:rPr>
              <a:t>$190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80560" y="3858768"/>
            <a:ext cx="4434840" cy="274320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38862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A35A"/>
                </a:solidFill>
              </a:rPr>
              <a:t>95+ Lighthouse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669280" y="38862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A35A"/>
                </a:solidFill>
              </a:rPr>
              <a:t>&lt; 1.5s Load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66560" y="38862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A35A"/>
                </a:solidFill>
              </a:rPr>
              <a:t>WebP Images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863840" y="38862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A35A"/>
                </a:solidFill>
              </a:rPr>
              <a:t>Lazy Load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0016" y="88696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0016" y="896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Editorial Hero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700016" y="2176272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00016" y="2185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Shop the Look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00016" y="3639312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0016" y="3648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Performance</a:t>
            </a:r>
            <a:endParaRPr lang="en-US" sz="750" dirty="0"/>
          </a:p>
        </p:txBody>
      </p:sp>
      <p:pic>
        <p:nvPicPr>
          <p:cNvPr id="69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122883" cy="237744"/>
          </a:xfrm>
          <a:prstGeom prst="roundRect">
            <a:avLst>
              <a:gd name="adj" fmla="val 50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04 / Feature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5120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$15,000 sofa.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$416/mo.</a:t>
            </a:r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36 months.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" y="1664208"/>
            <a:ext cx="3566160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739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The 0%/36-month financing offer was Casa Eleganza's strongest sales tool — buried in the footer. We built a Synchrony Finance widget directly into every product page.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560320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487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On-page calculator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2064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Monthly payment shown the moment a product loads — no navigating to a financing page.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36499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One-click prequalify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Synchrony soft-check prequalification without leaving the product page.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4169664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4096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Zero-friction checkout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2064" y="4370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Approved buyers proceed straight to order confirmation — no extra steps.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28016"/>
            <a:ext cx="4434840" cy="475488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28016"/>
            <a:ext cx="0" cy="292608"/>
          </a:xfrm>
          <a:prstGeom prst="roundRect">
            <a:avLst>
              <a:gd name="adj" fmla="val Infinity"/>
            </a:avLst>
          </a:prstGeom>
          <a:solidFill>
            <a:srgbClr val="2A2D35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219456"/>
            <a:ext cx="100584" cy="100584"/>
          </a:xfrm>
          <a:prstGeom prst="ellipse">
            <a:avLst/>
          </a:prstGeom>
          <a:solidFill>
            <a:srgbClr val="D64444"/>
          </a:solidFill>
          <a:ln w="12700">
            <a:solidFill>
              <a:srgbClr val="D6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219456"/>
            <a:ext cx="100584" cy="100584"/>
          </a:xfrm>
          <a:prstGeom prst="ellipse">
            <a:avLst/>
          </a:prstGeom>
          <a:solidFill>
            <a:srgbClr val="E0953A"/>
          </a:solidFill>
          <a:ln w="12700">
            <a:solidFill>
              <a:srgbClr val="E095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219456"/>
            <a:ext cx="100584" cy="1005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9202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1C1F27"/>
          </a:solidFill>
          <a:ln w="12700">
            <a:solidFill>
              <a:srgbClr val="484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92024"/>
            <a:ext cx="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99"/>
                </a:solidFill>
              </a:rPr>
              <a:t>4.85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80560" y="420624"/>
            <a:ext cx="4434840" cy="27432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457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CASA ELEGANZA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694944"/>
            <a:ext cx="2103120" cy="2377440"/>
          </a:xfrm>
          <a:prstGeom prst="rect">
            <a:avLst/>
          </a:prstGeom>
          <a:solidFill>
            <a:srgbClr val="EDE8D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4996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D4CFC6"/>
                </a:solidFill>
              </a:rPr>
              <a:t>◈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711696" y="74980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Modena Full Leather Sectional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11696" y="111556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Italian leather · 3-piece · Custom config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11696" y="1371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$14,995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6675120" y="1792224"/>
            <a:ext cx="2121408" cy="1371600"/>
          </a:xfrm>
          <a:prstGeom prst="roundRect">
            <a:avLst>
              <a:gd name="adj" fmla="val 6667"/>
            </a:avLst>
          </a:prstGeom>
          <a:solidFill>
            <a:srgbClr val="F9F4E8"/>
          </a:solidFill>
          <a:ln w="19050">
            <a:solidFill>
              <a:srgbClr val="C4A3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1792224"/>
            <a:ext cx="2121408" cy="36576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186537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883A"/>
                </a:solidFill>
              </a:rPr>
              <a:t>FINANCING AVAILABLE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66560" y="20848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$416 /mo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766560" y="248716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for 36 months · 0% APR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2743200"/>
            <a:ext cx="1865376" cy="0"/>
          </a:xfrm>
          <a:prstGeom prst="line">
            <a:avLst/>
          </a:prstGeom>
          <a:noFill/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28163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Purchase Price  $14,995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90288" y="3218688"/>
            <a:ext cx="4151376" cy="274320"/>
          </a:xfrm>
          <a:prstGeom prst="roundRect">
            <a:avLst>
              <a:gd name="adj" fmla="val 2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0288" y="3236976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A35A"/>
                </a:solidFill>
              </a:rPr>
              <a:t>Prequalify Now — No Hard Credit Check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852160" y="356616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</a:rPr>
              <a:t>powered by Synchrony Bank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480560" y="3822192"/>
            <a:ext cx="4434840" cy="384048"/>
          </a:xfrm>
          <a:prstGeom prst="rect">
            <a:avLst/>
          </a:prstGeom>
          <a:solidFill>
            <a:srgbClr val="F5F2EC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858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83A"/>
                </a:solidFill>
              </a:rPr>
              <a:t>3×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36592" y="40416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More inquiries on financed items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72200" y="3858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83A"/>
                </a:solidFill>
              </a:rPr>
              <a:t>0%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172200" y="40416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Extra clicks to prequalify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07808" y="3858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83A"/>
                </a:solidFill>
              </a:rPr>
              <a:t>36-mo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607808" y="40416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Offer now seen by shoppers</a:t>
            </a:r>
            <a:endParaRPr lang="en-US" sz="850" dirty="0"/>
          </a:p>
        </p:txBody>
      </p:sp>
      <p:pic>
        <p:nvPicPr>
          <p:cNvPr id="49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122883" cy="237744"/>
          </a:xfrm>
          <a:prstGeom prst="roundRect">
            <a:avLst>
              <a:gd name="adj" fmla="val 50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05 / Feature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5120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SKUs.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yours in 3 clicks.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" y="1627632"/>
            <a:ext cx="3566160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938528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8288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Filter by material —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Leather · Fabric · Velvet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2414016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3042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Filter by style —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Modern · Contemporary · Mid-Century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889504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7797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Filter by room —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Living · Bedroom · Dining · Office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336499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2552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Filter by availability —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In-stock Miami · In-stock NJ · Online only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3840480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7307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Complete the Look —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Curated room bundles — buy the full set, save 10%.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4315968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206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Giorgio lead capture —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Special-order form for high-ticket luxury inquiries.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128016"/>
            <a:ext cx="4434840" cy="475488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128016"/>
            <a:ext cx="0" cy="292608"/>
          </a:xfrm>
          <a:prstGeom prst="roundRect">
            <a:avLst>
              <a:gd name="adj" fmla="val Infinity"/>
            </a:avLst>
          </a:prstGeom>
          <a:solidFill>
            <a:srgbClr val="2A2D35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219456"/>
            <a:ext cx="100584" cy="100584"/>
          </a:xfrm>
          <a:prstGeom prst="ellipse">
            <a:avLst/>
          </a:prstGeom>
          <a:solidFill>
            <a:srgbClr val="D64444"/>
          </a:solidFill>
          <a:ln w="12700">
            <a:solidFill>
              <a:srgbClr val="D6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219456"/>
            <a:ext cx="100584" cy="100584"/>
          </a:xfrm>
          <a:prstGeom prst="ellipse">
            <a:avLst/>
          </a:prstGeom>
          <a:solidFill>
            <a:srgbClr val="E0953A"/>
          </a:solidFill>
          <a:ln w="12700">
            <a:solidFill>
              <a:srgbClr val="E095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56048" y="219456"/>
            <a:ext cx="100584" cy="1005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19202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1C1F27"/>
          </a:solidFill>
          <a:ln w="12700">
            <a:solidFill>
              <a:srgbClr val="484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92024"/>
            <a:ext cx="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99"/>
                </a:solidFill>
              </a:rPr>
              <a:t>4.85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420624"/>
            <a:ext cx="4434840" cy="27432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457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CASA ELEGANZA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45152" y="7315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All Collections — 500 products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90288" y="987552"/>
            <a:ext cx="1316736" cy="3749040"/>
          </a:xfrm>
          <a:prstGeom prst="roundRect">
            <a:avLst>
              <a:gd name="adj" fmla="val 5556"/>
            </a:avLst>
          </a:prstGeom>
          <a:solidFill>
            <a:srgbClr val="FAFAF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060704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MATERIAL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81728" y="12801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4A35A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261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Leather (128)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81728" y="148132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4630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Fabric (245)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1682496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6642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Velvet (127)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81728" y="193852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STYLE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81728" y="215798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4A35A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1396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Modern (184)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81728" y="235915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340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Contemporary (196)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81728" y="25603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542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Mid-Century (120)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81728" y="281635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ROOM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81728" y="303580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4A35A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017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Living (156)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81728" y="3236976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218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Bedroom (108)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81728" y="343814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34198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Dining (98)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81728" y="369417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AVAILABILITY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81728" y="391363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4A35A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8953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Miami (236)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81728" y="411480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40965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NJ (178)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81728" y="431596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4297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Online (86)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80176" y="987552"/>
            <a:ext cx="914400" cy="1133856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0176" y="987552"/>
            <a:ext cx="914400" cy="58521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16752" y="1024128"/>
            <a:ext cx="438912" cy="146304"/>
          </a:xfrm>
          <a:prstGeom prst="roundRect">
            <a:avLst>
              <a:gd name="adj" fmla="val 25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16752" y="103327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8883A"/>
                </a:solidFill>
              </a:rPr>
              <a:t>LIVING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016752" y="16093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Modena Leather Sectional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016752" y="19202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3A"/>
                </a:solidFill>
              </a:rPr>
              <a:t>$2,995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67728" y="987552"/>
            <a:ext cx="914400" cy="1133856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987552"/>
            <a:ext cx="914400" cy="58521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04304" y="1024128"/>
            <a:ext cx="438912" cy="146304"/>
          </a:xfrm>
          <a:prstGeom prst="roundRect">
            <a:avLst>
              <a:gd name="adj" fmla="val 25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04304" y="103327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8883A"/>
                </a:solidFill>
              </a:rPr>
              <a:t>DINING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004304" y="16093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Torino Dining Table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004304" y="19202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3A"/>
                </a:solidFill>
              </a:rPr>
              <a:t>$1,895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955280" y="987552"/>
            <a:ext cx="914400" cy="1133856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55280" y="987552"/>
            <a:ext cx="914400" cy="58521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91856" y="1024128"/>
            <a:ext cx="438912" cy="146304"/>
          </a:xfrm>
          <a:prstGeom prst="roundRect">
            <a:avLst>
              <a:gd name="adj" fmla="val 25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91856" y="103327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8883A"/>
                </a:solidFill>
              </a:rPr>
              <a:t>BEDROOM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991856" y="16093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Milano Bed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991856" y="19202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3A"/>
                </a:solidFill>
              </a:rPr>
              <a:t>$1,495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980176" y="2194560"/>
            <a:ext cx="914400" cy="1133856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80176" y="2194560"/>
            <a:ext cx="914400" cy="58521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16752" y="2231136"/>
            <a:ext cx="438912" cy="146304"/>
          </a:xfrm>
          <a:prstGeom prst="roundRect">
            <a:avLst>
              <a:gd name="adj" fmla="val 25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16752" y="2240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8883A"/>
                </a:solidFill>
              </a:rPr>
              <a:t>LIVING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016752" y="2816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Venezia Velvet Sofa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016752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3A"/>
                </a:solidFill>
              </a:rPr>
              <a:t>$1,695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967728" y="2194560"/>
            <a:ext cx="914400" cy="1133856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967728" y="2194560"/>
            <a:ext cx="914400" cy="58521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04304" y="2231136"/>
            <a:ext cx="438912" cy="146304"/>
          </a:xfrm>
          <a:prstGeom prst="roundRect">
            <a:avLst>
              <a:gd name="adj" fmla="val 25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04304" y="2240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8883A"/>
                </a:solidFill>
              </a:rPr>
              <a:t>LIVING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7004304" y="2816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Luna Coffee Table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004304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3A"/>
                </a:solidFill>
              </a:rPr>
              <a:t>$595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955280" y="2194560"/>
            <a:ext cx="914400" cy="1133856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55280" y="2194560"/>
            <a:ext cx="914400" cy="58521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91856" y="2231136"/>
            <a:ext cx="438912" cy="146304"/>
          </a:xfrm>
          <a:prstGeom prst="roundRect">
            <a:avLst>
              <a:gd name="adj" fmla="val 25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91856" y="2240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8883A"/>
                </a:solidFill>
              </a:rPr>
              <a:t>DINING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7991856" y="2816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Como Sideboard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991856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883A"/>
                </a:solidFill>
              </a:rPr>
              <a:t>$1,295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09360" y="2779776"/>
            <a:ext cx="2450592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9050">
            <a:solidFill>
              <a:srgbClr val="C4A35A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4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309360" y="2779776"/>
            <a:ext cx="2450592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37376" y="28712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883A"/>
                </a:solidFill>
              </a:rPr>
              <a:t>GIORGIO COLLECTION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437376" y="3090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Special Order · Made in Italy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437376" y="3310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· Bespoke finishes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437376" y="3511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· 8–10 week lead time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437376" y="37124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· Call for price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437376" y="3968496"/>
            <a:ext cx="2194560" cy="256032"/>
          </a:xfrm>
          <a:prstGeom prst="roundRect">
            <a:avLst>
              <a:gd name="adj" fmla="val 2857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37376" y="3986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REQUEST INFORMATION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6437376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A5A"/>
                </a:solidFill>
              </a:rPr>
              <a:t>A specialist will contact you within 24 hours.</a:t>
            </a:r>
            <a:endParaRPr lang="en-US" sz="850" dirty="0"/>
          </a:p>
        </p:txBody>
      </p:sp>
      <p:pic>
        <p:nvPicPr>
          <p:cNvPr id="105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128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A35A"/>
                </a:solidFill>
              </a:rPr>
              <a:t>▲ itforce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7472" y="164592"/>
            <a:ext cx="1122883" cy="237744"/>
          </a:xfrm>
          <a:prstGeom prst="roundRect">
            <a:avLst>
              <a:gd name="adj" fmla="val 50000"/>
            </a:avLst>
          </a:prstGeom>
          <a:solidFill>
            <a:srgbClr val="252B3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92024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06 / Results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browsers who become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Results measured over the first 90 days after launch vs. pre-launch baseline.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938528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1C2030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938528"/>
            <a:ext cx="1993392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29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A35A"/>
                </a:solidFill>
              </a:rPr>
              <a:t>+41%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75488" y="25786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Conversion Rate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on filtered collection pages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1938528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1C2030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938528"/>
            <a:ext cx="1993392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2029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A35A"/>
                </a:solidFill>
              </a:rPr>
              <a:t>+28%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2615184" y="25786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Avg. Order Value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15184" y="2834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from room bundle upsell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273552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1C2030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273552"/>
            <a:ext cx="1993392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3649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A35A"/>
                </a:solidFill>
              </a:rPr>
              <a:t>−45%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75488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Bounce Rate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" y="4169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on product detail pages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87168" y="3273552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1C2030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87168" y="3273552"/>
            <a:ext cx="1993392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33649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A35A"/>
                </a:solidFill>
              </a:rPr>
              <a:t>3×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2615184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Special-Order Inquiries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15184" y="4169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after Giorgio lead form launch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420624"/>
            <a:ext cx="4297680" cy="4480560"/>
          </a:xfrm>
          <a:prstGeom prst="roundRect">
            <a:avLst>
              <a:gd name="adj" fmla="val 2979"/>
            </a:avLst>
          </a:prstGeom>
          <a:solidFill>
            <a:srgbClr val="1C2030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420624"/>
            <a:ext cx="429768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512064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C4A35A">
                    <a:alpha val="45000"/>
                  </a:srgbClr>
                </a:solidFill>
              </a:rPr>
              <a:t>“</a:t>
            </a:r>
            <a:endParaRPr lang="en-US" sz="7400" dirty="0"/>
          </a:p>
        </p:txBody>
      </p:sp>
      <p:sp>
        <p:nvSpPr>
          <p:cNvPr id="31" name="Text 29"/>
          <p:cNvSpPr/>
          <p:nvPr/>
        </p:nvSpPr>
        <p:spPr>
          <a:xfrm>
            <a:off x="4864608" y="1152144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knew our store didn't match our brand.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864608" y="1682496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ITForce rebuilt it from scratch — now the online experience is as premium as walking into our showroom.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864608" y="2414016"/>
            <a:ext cx="3840480" cy="0"/>
          </a:xfrm>
          <a:prstGeom prst="line">
            <a:avLst/>
          </a:prstGeom>
          <a:noFill/>
          <a:ln w="12700">
            <a:solidFill>
              <a:srgbClr val="383C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50545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</a:rPr>
              <a:t>— Casa Eleganza founder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281635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</a:rPr>
              <a:t>casaeleganza.com  ·  Miami, FL &amp; Paramus, NJ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35A"/>
                </a:solidFill>
              </a:rPr>
              <a:t>★★★★★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98464" y="318211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5.0  customer satisfaction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64608" y="3547872"/>
            <a:ext cx="3858768" cy="310896"/>
          </a:xfrm>
          <a:prstGeom prst="roundRect">
            <a:avLst>
              <a:gd name="adj" fmla="val 29412"/>
            </a:avLst>
          </a:prstGeom>
          <a:solidFill>
            <a:srgbClr val="252B3A"/>
          </a:solidFill>
          <a:ln w="12700">
            <a:solidFill>
              <a:srgbClr val="383C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58444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✓  Delivered on Upwork  ·  Top Rated Agency  ·  100% Job Success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731874" cy="237744"/>
          </a:xfrm>
          <a:prstGeom prst="roundRect">
            <a:avLst>
              <a:gd name="adj" fmla="val 50000"/>
            </a:avLst>
          </a:prstGeom>
          <a:solidFill>
            <a:srgbClr val="F9F4E8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1731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07 / Stack &amp; Timeline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5120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Shopify 2.0,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properly.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47472" y="1517904"/>
            <a:ext cx="3840480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627632"/>
            <a:ext cx="1067105" cy="256032"/>
          </a:xfrm>
          <a:prstGeom prst="roundRect">
            <a:avLst>
              <a:gd name="adj" fmla="val 42857"/>
            </a:avLst>
          </a:prstGeom>
          <a:solidFill>
            <a:srgbClr val="F9F4E8"/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64208"/>
            <a:ext cx="10671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Shopify 2.0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24305" y="1627632"/>
            <a:ext cx="715061" cy="256032"/>
          </a:xfrm>
          <a:prstGeom prst="roundRect">
            <a:avLst>
              <a:gd name="adj" fmla="val 42857"/>
            </a:avLst>
          </a:prstGeom>
          <a:solidFill>
            <a:srgbClr val="F9F4E8"/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4305" y="1664208"/>
            <a:ext cx="7150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Liquid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9094" y="1627632"/>
            <a:ext cx="996696" cy="256032"/>
          </a:xfrm>
          <a:prstGeom prst="roundRect">
            <a:avLst>
              <a:gd name="adj" fmla="val 42857"/>
            </a:avLst>
          </a:prstGeom>
          <a:solidFill>
            <a:srgbClr val="F9F4E8"/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9094" y="166420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Metafields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55518" y="1627632"/>
            <a:ext cx="926287" cy="256032"/>
          </a:xfrm>
          <a:prstGeom prst="roundRect">
            <a:avLst>
              <a:gd name="adj" fmla="val 42857"/>
            </a:avLst>
          </a:prstGeom>
          <a:solidFill>
            <a:srgbClr val="F9F4E8"/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5518" y="1664208"/>
            <a:ext cx="9262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Alpine.js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993392"/>
            <a:ext cx="926287" cy="256032"/>
          </a:xfrm>
          <a:prstGeom prst="roundRect">
            <a:avLst>
              <a:gd name="adj" fmla="val 42857"/>
            </a:avLst>
          </a:prstGeom>
          <a:solidFill>
            <a:srgbClr val="F9F4E8"/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29968"/>
            <a:ext cx="9262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Swiper.js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83487" y="1993392"/>
            <a:ext cx="1771193" cy="256032"/>
          </a:xfrm>
          <a:prstGeom prst="roundRect">
            <a:avLst>
              <a:gd name="adj" fmla="val 42857"/>
            </a:avLst>
          </a:prstGeom>
          <a:solidFill>
            <a:srgbClr val="F9F4E8"/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3487" y="2029968"/>
            <a:ext cx="17711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Synchrony Finance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1993392"/>
            <a:ext cx="855878" cy="256032"/>
          </a:xfrm>
          <a:prstGeom prst="roundRect">
            <a:avLst>
              <a:gd name="adj" fmla="val 42857"/>
            </a:avLst>
          </a:prstGeom>
          <a:solidFill>
            <a:srgbClr val="F9F4E8"/>
          </a:solidFill>
          <a:ln w="127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2029968"/>
            <a:ext cx="855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Git / CI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What we delivered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47472" y="290779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7980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Custom Shopify 2.0 theme (editorial, luxury, mobile-first)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27355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31638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Advanced filter system — material, style, room, availability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" y="363931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529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Complete the Look room bundler + 10% bundle discount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" y="400507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895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Inline Synchrony Finance widget on all product pages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" y="4370832"/>
            <a:ext cx="91440" cy="91440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42611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Giorgio Collection special-order lead capture form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17720" y="164592"/>
            <a:ext cx="4297680" cy="47548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4CFC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164592"/>
            <a:ext cx="4297680" cy="45720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926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Delivery Timeline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18888" y="603504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10 weeks · discovery to production launch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18888" y="859536"/>
            <a:ext cx="3895344" cy="0"/>
          </a:xfrm>
          <a:prstGeom prst="line">
            <a:avLst/>
          </a:prstGeom>
          <a:noFill/>
          <a:ln w="12700">
            <a:solidFill>
              <a:srgbClr val="D4CF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93208" y="969264"/>
            <a:ext cx="0" cy="3657600"/>
          </a:xfrm>
          <a:prstGeom prst="line">
            <a:avLst/>
          </a:prstGeom>
          <a:noFill/>
          <a:ln w="25400">
            <a:solidFill>
              <a:srgbClr val="C4A35A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65192" y="1005840"/>
            <a:ext cx="256032" cy="256032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12664" y="950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Wk 1–2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12664" y="115214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Discovery &amp; Wireframes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12664" y="138988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Audit existing store, user flows, competitor analysis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65192" y="1700784"/>
            <a:ext cx="256032" cy="256032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12664" y="16459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Wk 3–4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12664" y="184708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Design System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312664" y="208483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Brand tokens, typography, color, editorial layout templates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65192" y="2395728"/>
            <a:ext cx="256032" cy="256032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12664" y="23408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Wk 5–7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12664" y="254203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Theme Build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312664" y="277977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Shopify 2.0 sections, filter logic, financing widget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65192" y="3090672"/>
            <a:ext cx="256032" cy="256032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12664" y="30358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Wk 8–9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312664" y="323697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Integrations &amp; QA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312664" y="347472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Synchrony API, Giorgio form, cross-browser + mobile QA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965192" y="3785616"/>
            <a:ext cx="256032" cy="256032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12664" y="3730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83A"/>
                </a:solidFill>
              </a:rPr>
              <a:t>Wk 10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312664" y="393192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Launch + Training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312664" y="416966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Staging → production deploy + Casa team handover session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9F4E8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83A"/>
                </a:solidFill>
              </a:rPr>
              <a:t>▲ ITFORCE  ·  casaeleganza.com  ·  itforce.ua</a:t>
            </a:r>
            <a:endParaRPr lang="en-US" sz="1000" dirty="0"/>
          </a:p>
        </p:txBody>
      </p:sp>
      <p:pic>
        <p:nvPicPr>
          <p:cNvPr id="60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"/>
            <a:ext cx="914400" cy="15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2026-07-08T13:10:30Z</dcterms:created>
  <dcterms:modified xsi:type="dcterms:W3CDTF">2026-07-08T13:10:30Z</dcterms:modified>
</cp:coreProperties>
</file>