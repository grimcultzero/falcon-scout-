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Mar 1</c:v>
                  </c:pt>
                  <c:pt idx="1">
                    <c:v>Mar 5</c:v>
                  </c:pt>
                  <c:pt idx="2">
                    <c:v>Mar 10</c:v>
                  </c:pt>
                  <c:pt idx="3">
                    <c:v>Mar 15</c:v>
                  </c:pt>
                  <c:pt idx="4">
                    <c:v>Mar 18</c:v>
                  </c:pt>
                  <c:pt idx="5">
                    <c:v>Mar 20</c:v>
                  </c:pt>
                  <c:pt idx="6">
                    <c:v>Mar 23</c:v>
                  </c:pt>
                  <c:pt idx="7">
                    <c:v>Mar 25</c:v>
                  </c:pt>
                  <c:pt idx="8">
                    <c:v>Mar 28</c:v>
                  </c:pt>
                  <c:pt idx="9">
                    <c:v>Mar 31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25</c:v>
                </c:pt>
                <c:pt idx="2">
                  <c:v>48</c:v>
                </c:pt>
                <c:pt idx="3">
                  <c:v>95</c:v>
                </c:pt>
                <c:pt idx="4">
                  <c:v>180</c:v>
                </c:pt>
                <c:pt idx="5">
                  <c:v>280</c:v>
                </c:pt>
                <c:pt idx="6">
                  <c:v>380</c:v>
                </c:pt>
                <c:pt idx="7">
                  <c:v>490</c:v>
                </c:pt>
                <c:pt idx="8">
                  <c:v>520</c:v>
                </c:pt>
                <c:pt idx="9">
                  <c:v>610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Clicks</c:v>
                </c:pt>
              </c:strCache>
            </c:strRef>
          </c:tx>
          <c:spPr>
            <a:solidFill>
              <a:srgbClr val="14B8A6"/>
            </a:solidFill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Mar 1</c:v>
                  </c:pt>
                  <c:pt idx="1">
                    <c:v>Mar 5</c:v>
                  </c:pt>
                  <c:pt idx="2">
                    <c:v>Mar 10</c:v>
                  </c:pt>
                  <c:pt idx="3">
                    <c:v>Mar 15</c:v>
                  </c:pt>
                  <c:pt idx="4">
                    <c:v>Mar 18</c:v>
                  </c:pt>
                  <c:pt idx="5">
                    <c:v>Mar 20</c:v>
                  </c:pt>
                  <c:pt idx="6">
                    <c:v>Mar 23</c:v>
                  </c:pt>
                  <c:pt idx="7">
                    <c:v>Mar 25</c:v>
                  </c:pt>
                  <c:pt idx="8">
                    <c:v>Mar 28</c:v>
                  </c:pt>
                  <c:pt idx="9">
                    <c:v>Mar 31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9</c:v>
                </c:pt>
                <c:pt idx="6">
                  <c:v>14</c:v>
                </c:pt>
                <c:pt idx="7">
                  <c:v>22</c:v>
                </c:pt>
                <c:pt idx="8">
                  <c:v>28</c:v>
                </c:pt>
                <c:pt idx="9">
                  <c:v>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2926080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2926080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2926080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926080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2926080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2926080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926080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3639312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3639312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3639312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3639312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3639312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3639312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639312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4352544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4352544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4352544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4352544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4352544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4352544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4352544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3" name="Image 0" descr="/sessions/happy-elegant-ritchie/mnt/Web Development addon/b61c5ce3-aeb4-4737-a82c-48df1d503f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376732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029200" y="0"/>
            <a:ext cx="109728" cy="3767328"/>
          </a:xfrm>
          <a:prstGeom prst="rect">
            <a:avLst/>
          </a:prstGeom>
          <a:solidFill>
            <a:srgbClr val="1E4848">
              <a:alpha val="7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138928" y="0"/>
            <a:ext cx="109728" cy="3767328"/>
          </a:xfrm>
          <a:prstGeom prst="rect">
            <a:avLst/>
          </a:prstGeom>
          <a:solidFill>
            <a:srgbClr val="1E4848">
              <a:alpha val="84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248656" y="0"/>
            <a:ext cx="109728" cy="3767328"/>
          </a:xfrm>
          <a:prstGeom prst="rect">
            <a:avLst/>
          </a:prstGeom>
          <a:solidFill>
            <a:srgbClr val="1E4848">
              <a:alpha val="9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358384" y="0"/>
            <a:ext cx="109728" cy="3767328"/>
          </a:xfrm>
          <a:prstGeom prst="rect">
            <a:avLst/>
          </a:prstGeom>
          <a:solidFill>
            <a:srgbClr val="1E4848">
              <a:alpha val="94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6"/>
          <p:cNvSpPr/>
          <p:nvPr/>
        </p:nvSpPr>
        <p:spPr>
          <a:xfrm>
            <a:off x="201168" y="384048"/>
            <a:ext cx="1828800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1168" y="3840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OpenCart Development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157984" y="384048"/>
            <a:ext cx="1362456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57984" y="384048"/>
            <a:ext cx="1362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E-Commerce SEO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648456" y="384048"/>
            <a:ext cx="1440180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48456" y="384048"/>
            <a:ext cx="14401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CRM Integration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01168" y="777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gkit</a:t>
            </a:r>
            <a:endParaRPr lang="en-US" sz="4600" dirty="0"/>
          </a:p>
        </p:txBody>
      </p:sp>
      <p:sp>
        <p:nvSpPr>
          <p:cNvPr id="36" name="Shape 33"/>
          <p:cNvSpPr/>
          <p:nvPr/>
        </p:nvSpPr>
        <p:spPr>
          <a:xfrm>
            <a:off x="201168" y="144475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4"/>
          <p:cNvSpPr/>
          <p:nvPr/>
        </p:nvSpPr>
        <p:spPr>
          <a:xfrm>
            <a:off x="201168" y="1554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7D4D2"/>
                </a:solidFill>
              </a:rPr>
              <a:t>OpenCart Store Build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A7D4D2"/>
                </a:solidFill>
              </a:rPr>
              <a:t>+ SEO Launch Strategy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201168" y="252374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CFCF"/>
                </a:solidFill>
              </a:rPr>
              <a:t>Full-cycle project: from mock-up audit and CRM architecture to technical SEO and analytics — launching a branded fashion e-commerce store primed for growth.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01168" y="32918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ADAD"/>
                </a:solidFill>
              </a:rPr>
              <a:t>gkit.com.ua  ·  OpenCart + KeepinCRM  ·  Fashion &amp; Sportswear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01168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274320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85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256032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 Sessions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(Month 1)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377440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2450592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58.82%</a:t>
            </a:r>
            <a:endParaRPr lang="en-US" sz="2400" dirty="0"/>
          </a:p>
        </p:txBody>
      </p:sp>
      <p:sp>
        <p:nvSpPr>
          <p:cNvPr id="45" name="Text 42"/>
          <p:cNvSpPr/>
          <p:nvPr/>
        </p:nvSpPr>
        <p:spPr>
          <a:xfrm>
            <a:off x="2432304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Engagement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Rate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553712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4626864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2,600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4608576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Impressions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729984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6803136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42</a:t>
            </a:r>
            <a:endParaRPr lang="en-US" sz="2400" dirty="0"/>
          </a:p>
        </p:txBody>
      </p:sp>
      <p:sp>
        <p:nvSpPr>
          <p:cNvPr id="51" name="Text 48"/>
          <p:cNvSpPr/>
          <p:nvPr/>
        </p:nvSpPr>
        <p:spPr>
          <a:xfrm>
            <a:off x="6784848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581912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CLIENT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GKit — Premium Branded Fashion Store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Online destination for original Nike, Adidas, Jordan &amp; New Balance — built on OpenCart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STORE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79222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GKit (gkit.com.ua) — premium branded clothing, footwear &amp; accessories. Works exclusively with verified suppliers. No replicas.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14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MARKET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61518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Multi-brand retail. Delivery nationwide. Payments: Privat24, Monopay, Visa/Mastercard.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36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PLATFORM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34381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OpenCart CMS with KeepinCRM integration for inventory &amp; order management.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599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TASK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426110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Full website development from mock-up stage, followed by SEO launch &amp; first-month growth.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3931920" cy="31272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508760"/>
            <a:ext cx="3931920" cy="27432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1600200"/>
            <a:ext cx="91440" cy="91440"/>
          </a:xfrm>
          <a:prstGeom prst="ellipse">
            <a:avLst/>
          </a:prstGeom>
          <a:solidFill>
            <a:srgbClr val="E55555"/>
          </a:solidFill>
          <a:ln/>
        </p:spPr>
      </p:sp>
      <p:sp>
        <p:nvSpPr>
          <p:cNvPr id="21" name="Shape 19"/>
          <p:cNvSpPr/>
          <p:nvPr/>
        </p:nvSpPr>
        <p:spPr>
          <a:xfrm>
            <a:off x="5102352" y="16002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5266944" y="1600200"/>
            <a:ext cx="91440" cy="91440"/>
          </a:xfrm>
          <a:prstGeom prst="ellipse">
            <a:avLst/>
          </a:prstGeom>
          <a:solidFill>
            <a:srgbClr val="27C03A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4960" y="1563624"/>
            <a:ext cx="3273552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5636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</a:rPr>
              <a:t>gkit.com.ua</a:t>
            </a:r>
            <a:endParaRPr lang="en-US" sz="650" dirty="0"/>
          </a:p>
        </p:txBody>
      </p:sp>
      <p:pic>
        <p:nvPicPr>
          <p:cNvPr id="25" name="Image 0" descr="/sessions/happy-elegant-ritchie/mnt/outputs/ss_home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783080"/>
            <a:ext cx="3931920" cy="285292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Industry: E-Commerce · Fashion &amp; Sportswear · Multi-Brand Retail  |  Project Type: Web Development + SEO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3662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4136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THE CHALLENGE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Building on a Glass Foundation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A new store, a complex catalog, and zero organic history — every decision had to be right from day 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Organic History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Brand-new domain with zero SEO signals, no backlinks, and no indexed pages. Every ranking had to be earned from scratch.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46704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11296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Duplicate SKU Crisis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11296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Each shoe size was stored as a separate product — 100 models x 5 sizes = 500 separate listings. Disastrous for UX and SEO.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6208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CRM Sync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Client needed KeepinCRM to control inventory with automatic sync to OpenCart — a bidirectional data flow requiring careful design.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Bilingual Catalog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All product data, filters, and metadata needed in both Ukrainian and Russian — with standardized dropdowns, not free-text entry.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46704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11296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SEO-Integrated Development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11296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Technical SEO requirements (hreflang, canonical, Schema.org, URL structure) had to be baked in during build, not retrofitted post-launch.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36208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Existing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GA4, GTM, and GSC all had to be configured from scratch with a fully working ecommerce tracking layer before first traffic arrived.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Every challenge was addressed before launch. The result: a site that ranked from day one.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86661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086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1 · DEVELOPMENT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OpenCart Build &amp; UI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Full development from mockup audit through CRM-ready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36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Mock-up Audit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Analysed design files before a single line of code was written. Identified structural issues, missing UI states, and device responsiveness gaps.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7744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UI Gap Fixes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679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Added missing language switcher dropdown, cart/wishlist item counters in the header, and a product review form on product pages.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8211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UX Restructure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4838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Proposed 3-column review grid, product images in review listings, and moved the "Add Review" action to product cards only.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8678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Variant Architecture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288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Redesigned product data model: 5 separate size SKUs -&gt; 1 parent card with size/color as modifications. Eliminated catalog bloat.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508760"/>
            <a:ext cx="3931920" cy="32735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508760"/>
            <a:ext cx="3931920" cy="27432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1600200"/>
            <a:ext cx="91440" cy="91440"/>
          </a:xfrm>
          <a:prstGeom prst="ellipse">
            <a:avLst/>
          </a:prstGeom>
          <a:solidFill>
            <a:srgbClr val="E55555"/>
          </a:solidFill>
          <a:ln/>
        </p:spPr>
      </p:sp>
      <p:sp>
        <p:nvSpPr>
          <p:cNvPr id="25" name="Shape 23"/>
          <p:cNvSpPr/>
          <p:nvPr/>
        </p:nvSpPr>
        <p:spPr>
          <a:xfrm>
            <a:off x="5102352" y="16002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Shape 24"/>
          <p:cNvSpPr/>
          <p:nvPr/>
        </p:nvSpPr>
        <p:spPr>
          <a:xfrm>
            <a:off x="5266944" y="1600200"/>
            <a:ext cx="91440" cy="91440"/>
          </a:xfrm>
          <a:prstGeom prst="ellipse">
            <a:avLst/>
          </a:prstGeom>
          <a:solidFill>
            <a:srgbClr val="27C03A"/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0" y="1563624"/>
            <a:ext cx="3273552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5636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</a:rPr>
              <a:t>gkit.com.ua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846320" y="1783080"/>
            <a:ext cx="39319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78308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74151"/>
                </a:solidFill>
              </a:rPr>
              <a:t>GKIT  |  Men  Women  Kids  Accessories  Brands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937760" y="20574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Home / Footwear / Men's Sneakers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937760" y="22037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Men's Sneakers</a:t>
            </a:r>
            <a:endParaRPr lang="en-US" sz="900" dirty="0"/>
          </a:p>
        </p:txBody>
      </p:sp>
      <p:pic>
        <p:nvPicPr>
          <p:cNvPr id="33" name="Image 0" descr="/sessions/happy-elegant-ritchie/mnt/outputs/ss_na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783080"/>
            <a:ext cx="3931920" cy="1349654"/>
          </a:xfrm>
          <a:prstGeom prst="rect">
            <a:avLst/>
          </a:prstGeom>
        </p:spPr>
      </p:pic>
      <p:pic>
        <p:nvPicPr>
          <p:cNvPr id="34" name="Image 1" descr="/sessions/happy-elegant-ritchie/mnt/outputs/ss_produc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3132734"/>
            <a:ext cx="3931920" cy="1649578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6" name="Text 32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Result: clean architecture, SEO-ready from the first commit.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42316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2 · CRM INTEGRATION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KeepinCRM &lt;-&gt; OpenCart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Designing bidirectional data flow so the CRM is the single source of truth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KeepinCRM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Inventory · Pricing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Product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OpenCart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Storefront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Product pages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Browse · Cart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Checkout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2267712"/>
            <a:ext cx="8229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578608" y="208483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Product sync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(CRM -&gt; Site)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51760" y="2496312"/>
            <a:ext cx="82296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2578608" y="26517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Orders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(Site -&gt; CRM)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69280" y="2313432"/>
            <a:ext cx="8229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2724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2724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Parent + Variations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342900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One product card per model. Sizes &amp; colors as OpenCart modifications — eliminating 80%+ of duplicate SKUs.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312724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12724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Sync Marker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342900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Each CRM product has an "Update to site?" toggle. Changes only push when the manager explicitly enables sync.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90448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0448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Field Standardisation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20624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All filter attributes (Type, Season, Collection, Purpose) use dropdown fields — preventing free-text typos from creating garbage filters.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90448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90448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CDN for Media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83480" y="420624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Product images stored on CDN (bunny.net). CRM stores URLs only. Browser fetches images from nearest edge node.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CRM as the single source of truth — inventory, pricing, and product data flow automatically to the storefront.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25491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254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3 · TECHNICAL SEO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SEO-Ready Architecture, Built Before Launch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Technical audit delivered before go-live, not as a post-launch patch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36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SSL &amp; HTTPS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HTTPS enforced with 301 redirect from HTTP on every URL. Prerequisite for all crawling and ranking.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636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hreflang Tags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Ukrainian (uk) and Russian (ru) versions linked with correct x-default. No duplicate content penalty.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6829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URL 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Hyphenated slugs, no Cyrillic, consistent trailing slashes. Filter URLs use human-readable format.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3682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36829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Schema.org Markup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Product, BreadcrumbList, and Organization types implemented. Rich snippets ready on day one.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16382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6382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Canonicals &amp; Indexation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3465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Filter pages use canonical to parent category. Cart, checkout, and search results marked noindex.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16382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16382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Image Optimisation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83480" y="3465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WebP format, lazy loading, descriptive ALT attributes. All product images optimised at import.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95935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95935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Competitor Analysis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4261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4 key competitors mapped (yesoriginal, allstars, answear, prm). Link strategy and filter indexation logic derived from their best practices.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95935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95935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Sitemap &amp; Robots.txt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83480" y="4261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Sitemap generated post-launch. Robots.txt configured to allow crawling of all indexed pages and block all tech pages.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Full tech audit completed before release. Zero technical debt handed to the organic channel.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918411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9184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4 · ANALYTICS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Full Measurement Stack — Configured Before First Visit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GA4 + GTM + GSC implemented, tested, and verified. Ecommerce tracking live on launch 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GA4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Analytics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Data stream configured with measurement 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Ecommerce module: product impressions, add-to-cart, purchases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First test transactions recorded in GA4 before go-live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0128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18" name="Text 16"/>
          <p:cNvSpPr/>
          <p:nvPr/>
        </p:nvSpPr>
        <p:spPr>
          <a:xfrm>
            <a:off x="3447288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GTM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15968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Tag Manager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93008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94176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Container installed across all site pages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93008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694176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All marketing tags managed without developer intervention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93008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694176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Ecommerce data layer structured for GA4 events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0216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GSC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68896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Search Console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45936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547104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Property verified via HTML file upload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45936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547104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Sitemap submitted post-launch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45936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6547104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Indexed coverage tracked from day 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217070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63600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  Ecommerce transactions recording in GA4    GSC ownership verified    GTM container optimised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Measurement-first approach — every click, session, and conversion tracked from launch.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Month 1 Organic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March 2026 — first full month after launch. All data from Google Search Console &amp; GA4.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2,600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6344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Impressions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19272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92424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74136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27064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81928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Sessions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Click-Through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Rate (CTR)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19272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92424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#24.3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74136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Average 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Position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27064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0216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58.82%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81928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Engagement Rate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11480" y="3163824"/>
          <a:ext cx="8321040" cy="15179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New store ranking page 3 average within weeks of launch — impressions +50x, upward trajectory confirmed.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743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-2743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2743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2743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-2743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-2743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-2743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-2743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8580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8580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68580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8580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68580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68580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68580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68580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6459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6459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6459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16459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16459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16459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16459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16459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260604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60604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260604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260604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260604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260604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260604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260604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356616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356616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356616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356616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356616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356616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356616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356616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452628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700000">
            <a:off x="452628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452628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700000">
            <a:off x="452628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452628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452628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452628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452628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700000">
            <a:off x="548640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548640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548640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700000">
            <a:off x="548640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548640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548640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548640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548640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700000">
            <a:off x="64465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64465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700000">
            <a:off x="64465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700000">
            <a:off x="64465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2700000">
            <a:off x="64465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64465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64465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700000">
            <a:off x="64465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2700000">
            <a:off x="740664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740664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00000">
            <a:off x="740664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740664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700000">
            <a:off x="740664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740664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740664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700000">
            <a:off x="740664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836676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836676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700000">
            <a:off x="836676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2700000">
            <a:off x="836676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2700000">
            <a:off x="836676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2700000">
            <a:off x="836676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2700000">
            <a:off x="836676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700000">
            <a:off x="836676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E4848">
              <a:alpha val="85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ITForce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7635240" y="32004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635240" y="320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E-Commerce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790688" y="621792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90688" y="62179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OpenCart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013448" y="923544"/>
            <a:ext cx="167335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13448" y="923544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SEO-Integrated Dev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324344" y="1225296"/>
            <a:ext cx="1362456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24344" y="1225296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Fashion Retail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365760" y="9144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Right.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Launched Right.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from Day One.</a:t>
            </a:r>
            <a:endParaRPr lang="en-US" sz="3000" dirty="0"/>
          </a:p>
        </p:txBody>
      </p:sp>
      <p:sp>
        <p:nvSpPr>
          <p:cNvPr id="93" name="Shape 91"/>
          <p:cNvSpPr/>
          <p:nvPr/>
        </p:nvSpPr>
        <p:spPr>
          <a:xfrm>
            <a:off x="365760" y="27889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4" name="Text 92"/>
          <p:cNvSpPr/>
          <p:nvPr/>
        </p:nvSpPr>
        <p:spPr>
          <a:xfrm>
            <a:off x="566928" y="2697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Full OpenCart development with SEO-ready architecture from mockup stage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65760" y="320954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6" name="Text 94"/>
          <p:cNvSpPr/>
          <p:nvPr/>
        </p:nvSpPr>
        <p:spPr>
          <a:xfrm>
            <a:off x="566928" y="31181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KeepinCRM integration with bidirectional product &amp; order sync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365760" y="363016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8" name="Text 96"/>
          <p:cNvSpPr/>
          <p:nvPr/>
        </p:nvSpPr>
        <p:spPr>
          <a:xfrm>
            <a:off x="566928" y="35387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Complete technical SEO: hreflang, Schema.org, canonical, URL rules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65760" y="405079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0" name="Text 98"/>
          <p:cNvSpPr/>
          <p:nvPr/>
        </p:nvSpPr>
        <p:spPr>
          <a:xfrm>
            <a:off x="566928" y="39593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GA4 + GTM + GSC configured — ecommerce tracking live on launch day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65760" y="447141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2" name="Text 100"/>
          <p:cNvSpPr/>
          <p:nvPr/>
        </p:nvSpPr>
        <p:spPr>
          <a:xfrm>
            <a:off x="566928" y="43799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Position 24.3 average with confirmed upward trend in Month 1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02A2A"/>
          </a:solidFill>
          <a:ln/>
        </p:spPr>
      </p:sp>
      <p:sp>
        <p:nvSpPr>
          <p:cNvPr id="104" name="Text 102"/>
          <p:cNvSpPr/>
          <p:nvPr/>
        </p:nvSpPr>
        <p:spPr>
          <a:xfrm>
            <a:off x="365760" y="470001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ADAD"/>
                </a:solidFill>
              </a:rPr>
              <a:t>ITForce  ·  itforce.ua  ·  Google Ads Premier Partner  ·  Shopify Partner  ·  91 Case Studies Published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GKit – OpenCart Store Build + SEO Launch</dc:title>
  <dc:subject>PptxGenJS Presentation</dc:subject>
  <dc:creator>ITForce</dc:creator>
  <cp:lastModifiedBy>ITForce</cp:lastModifiedBy>
  <cp:revision>1</cp:revision>
  <dcterms:created xsi:type="dcterms:W3CDTF">2026-06-13T18:49:17Z</dcterms:created>
  <dcterms:modified xsi:type="dcterms:W3CDTF">2026-06-13T18:49:17Z</dcterms:modified>
</cp:coreProperties>
</file>