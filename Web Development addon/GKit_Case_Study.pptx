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Mar 1</c:v>
                  </c:pt>
                  <c:pt idx="1">
                    <c:v>Mar 5</c:v>
                  </c:pt>
                  <c:pt idx="2">
                    <c:v>Mar 10</c:v>
                  </c:pt>
                  <c:pt idx="3">
                    <c:v>Mar 15</c:v>
                  </c:pt>
                  <c:pt idx="4">
                    <c:v>Mar 18</c:v>
                  </c:pt>
                  <c:pt idx="5">
                    <c:v>Mar 20</c:v>
                  </c:pt>
                  <c:pt idx="6">
                    <c:v>Mar 23</c:v>
                  </c:pt>
                  <c:pt idx="7">
                    <c:v>Mar 25</c:v>
                  </c:pt>
                  <c:pt idx="8">
                    <c:v>Mar 28</c:v>
                  </c:pt>
                  <c:pt idx="9">
                    <c:v>Mar 31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</c:v>
                </c:pt>
                <c:pt idx="1">
                  <c:v>25</c:v>
                </c:pt>
                <c:pt idx="2">
                  <c:v>48</c:v>
                </c:pt>
                <c:pt idx="3">
                  <c:v>95</c:v>
                </c:pt>
                <c:pt idx="4">
                  <c:v>180</c:v>
                </c:pt>
                <c:pt idx="5">
                  <c:v>280</c:v>
                </c:pt>
                <c:pt idx="6">
                  <c:v>380</c:v>
                </c:pt>
                <c:pt idx="7">
                  <c:v>490</c:v>
                </c:pt>
                <c:pt idx="8">
                  <c:v>520</c:v>
                </c:pt>
                <c:pt idx="9">
                  <c:v>610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Clicks</c:v>
                </c:pt>
              </c:strCache>
            </c:strRef>
          </c:tx>
          <c:spPr>
            <a:solidFill>
              <a:srgbClr val="14B8A6"/>
            </a:solidFill>
            <a:ln w="3175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Mar 1</c:v>
                  </c:pt>
                  <c:pt idx="1">
                    <c:v>Mar 5</c:v>
                  </c:pt>
                  <c:pt idx="2">
                    <c:v>Mar 10</c:v>
                  </c:pt>
                  <c:pt idx="3">
                    <c:v>Mar 15</c:v>
                  </c:pt>
                  <c:pt idx="4">
                    <c:v>Mar 18</c:v>
                  </c:pt>
                  <c:pt idx="5">
                    <c:v>Mar 20</c:v>
                  </c:pt>
                  <c:pt idx="6">
                    <c:v>Mar 23</c:v>
                  </c:pt>
                  <c:pt idx="7">
                    <c:v>Mar 25</c:v>
                  </c:pt>
                  <c:pt idx="8">
                    <c:v>Mar 28</c:v>
                  </c:pt>
                  <c:pt idx="9">
                    <c:v>Mar 31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9</c:v>
                </c:pt>
                <c:pt idx="6">
                  <c:v>14</c:v>
                </c:pt>
                <c:pt idx="7">
                  <c:v>22</c:v>
                </c:pt>
                <c:pt idx="8">
                  <c:v>28</c:v>
                </c:pt>
                <c:pt idx="9">
                  <c:v>42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2926080" y="-1828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2926080" y="5943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2926080" y="137160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926080" y="214884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2926080" y="29260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2926080" y="370332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2926080" y="44805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3639312" y="-1828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3639312" y="5943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3639312" y="137160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3639312" y="214884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3639312" y="29260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3639312" y="370332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3639312" y="44805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4352544" y="-1828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4352544" y="5943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4352544" y="137160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4352544" y="214884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4352544" y="29260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4352544" y="370332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4352544" y="44805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3" name="Image 0" descr="/sessions/happy-elegant-ritchie/mnt/Web Development addon/b61c5ce3-aeb4-4737-a82c-48df1d503f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376732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029200" y="0"/>
            <a:ext cx="109728" cy="3767328"/>
          </a:xfrm>
          <a:prstGeom prst="rect">
            <a:avLst/>
          </a:prstGeom>
          <a:solidFill>
            <a:srgbClr val="1E4848">
              <a:alpha val="7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138928" y="0"/>
            <a:ext cx="109728" cy="3767328"/>
          </a:xfrm>
          <a:prstGeom prst="rect">
            <a:avLst/>
          </a:prstGeom>
          <a:solidFill>
            <a:srgbClr val="1E4848">
              <a:alpha val="84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248656" y="0"/>
            <a:ext cx="109728" cy="3767328"/>
          </a:xfrm>
          <a:prstGeom prst="rect">
            <a:avLst/>
          </a:prstGeom>
          <a:solidFill>
            <a:srgbClr val="1E4848">
              <a:alpha val="9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5358384" y="0"/>
            <a:ext cx="109728" cy="3767328"/>
          </a:xfrm>
          <a:prstGeom prst="rect">
            <a:avLst/>
          </a:prstGeom>
          <a:solidFill>
            <a:srgbClr val="1E4848">
              <a:alpha val="94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Shape 26"/>
          <p:cNvSpPr/>
          <p:nvPr/>
        </p:nvSpPr>
        <p:spPr>
          <a:xfrm>
            <a:off x="201168" y="384048"/>
            <a:ext cx="1828800" cy="246888"/>
          </a:xfrm>
          <a:prstGeom prst="roundRect">
            <a:avLst>
              <a:gd name="adj" fmla="val 4814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01168" y="3840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OpenCart Development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157984" y="384048"/>
            <a:ext cx="1362456" cy="246888"/>
          </a:xfrm>
          <a:prstGeom prst="roundRect">
            <a:avLst>
              <a:gd name="adj" fmla="val 4814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157984" y="384048"/>
            <a:ext cx="1362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E-Commerce SEO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648456" y="384048"/>
            <a:ext cx="1440180" cy="246888"/>
          </a:xfrm>
          <a:prstGeom prst="roundRect">
            <a:avLst>
              <a:gd name="adj" fmla="val 4814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48456" y="384048"/>
            <a:ext cx="14401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CRM Integration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01168" y="777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gkit</a:t>
            </a:r>
            <a:endParaRPr lang="en-US" sz="4600" dirty="0"/>
          </a:p>
        </p:txBody>
      </p:sp>
      <p:sp>
        <p:nvSpPr>
          <p:cNvPr id="36" name="Shape 33"/>
          <p:cNvSpPr/>
          <p:nvPr/>
        </p:nvSpPr>
        <p:spPr>
          <a:xfrm>
            <a:off x="201168" y="1444752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4"/>
          <p:cNvSpPr/>
          <p:nvPr/>
        </p:nvSpPr>
        <p:spPr>
          <a:xfrm>
            <a:off x="201168" y="1554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7D4D2"/>
                </a:solidFill>
              </a:rPr>
              <a:t>OpenCart Store Build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A7D4D2"/>
                </a:solidFill>
              </a:rPr>
              <a:t>+ SEO Launch Strategy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201168" y="2523744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CFCF"/>
                </a:solidFill>
              </a:rPr>
              <a:t>Full-cycle project: from mock-up audit and CRM architecture to technical SEO and analytics — launching a branded fashion e-commerce store primed for growth.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01168" y="32918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ADAD"/>
                </a:solidFill>
              </a:rPr>
              <a:t>gkit.com.ua  ·  OpenCart + KeepinCRM  ·  Fashion &amp; Sportswear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01168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274320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85</a:t>
            </a:r>
            <a:endParaRPr lang="en-US" sz="2400" dirty="0"/>
          </a:p>
        </p:txBody>
      </p:sp>
      <p:sp>
        <p:nvSpPr>
          <p:cNvPr id="42" name="Text 39"/>
          <p:cNvSpPr/>
          <p:nvPr/>
        </p:nvSpPr>
        <p:spPr>
          <a:xfrm>
            <a:off x="256032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 Sessions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(Month 1)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2377440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2450592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58.82%</a:t>
            </a:r>
            <a:endParaRPr lang="en-US" sz="2400" dirty="0"/>
          </a:p>
        </p:txBody>
      </p:sp>
      <p:sp>
        <p:nvSpPr>
          <p:cNvPr id="45" name="Text 42"/>
          <p:cNvSpPr/>
          <p:nvPr/>
        </p:nvSpPr>
        <p:spPr>
          <a:xfrm>
            <a:off x="2432304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Engagement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Rate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553712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4626864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2,600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4608576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Impressions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729984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6803136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42</a:t>
            </a:r>
            <a:endParaRPr lang="en-US" sz="2400" dirty="0"/>
          </a:p>
        </p:txBody>
      </p:sp>
      <p:sp>
        <p:nvSpPr>
          <p:cNvPr id="51" name="Text 48"/>
          <p:cNvSpPr/>
          <p:nvPr/>
        </p:nvSpPr>
        <p:spPr>
          <a:xfrm>
            <a:off x="6784848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Clicks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581912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CLIENT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GKit — Premium Branded Fashion Store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Online destination for original Nike, Adidas, Jordan &amp; New Balance — built on OpenCart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91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STORE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79222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GKit (gkit.com.ua) — premium branded clothing, footwear &amp; accessories. Works exclusively with verified suppliers. No replicas.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14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MARKET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61518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Multi-brand retail. Delivery nationwide. Payments: Privat24, Monopay, Visa/Mastercard.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369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PLATFORM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343814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OpenCart CMS with KeepinCRM integration for inventory &amp; order management.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04164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599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TASK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426110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Full website development from mock-up stage, followed by SEO launch &amp; first-month growth.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1508760"/>
            <a:ext cx="3931920" cy="31272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508760"/>
            <a:ext cx="3931920" cy="27432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1600200"/>
            <a:ext cx="91440" cy="91440"/>
          </a:xfrm>
          <a:prstGeom prst="ellipse">
            <a:avLst/>
          </a:prstGeom>
          <a:solidFill>
            <a:srgbClr val="E55555"/>
          </a:solidFill>
          <a:ln/>
        </p:spPr>
      </p:sp>
      <p:sp>
        <p:nvSpPr>
          <p:cNvPr id="21" name="Shape 19"/>
          <p:cNvSpPr/>
          <p:nvPr/>
        </p:nvSpPr>
        <p:spPr>
          <a:xfrm>
            <a:off x="5102352" y="160020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5266944" y="1600200"/>
            <a:ext cx="91440" cy="91440"/>
          </a:xfrm>
          <a:prstGeom prst="ellipse">
            <a:avLst/>
          </a:prstGeom>
          <a:solidFill>
            <a:srgbClr val="27C03A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4960" y="1563624"/>
            <a:ext cx="3273552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56362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</a:rPr>
              <a:t>gkit.com.ua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4846320" y="1783080"/>
            <a:ext cx="3931920" cy="15544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1783080"/>
            <a:ext cx="3749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</a:rPr>
              <a:t>Welcome bonus -5%  |  Promo code: GK2026  |  First order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846320" y="1938528"/>
            <a:ext cx="39319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19385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827"/>
                </a:solidFill>
              </a:rPr>
              <a:t>GKIT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06440" y="19385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74151"/>
                </a:solidFill>
              </a:rPr>
              <a:t>Men  |  Women  |  Kids  |  Accessories  |  Brands  |  Sale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846320" y="2212848"/>
            <a:ext cx="3931920" cy="11704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4974336" y="231343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Welcome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Bonus -5%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74336" y="2898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AAAAAA"/>
                </a:solidFill>
              </a:rPr>
              <a:t>Code: GK2026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58000" y="2212848"/>
            <a:ext cx="1920240" cy="1170432"/>
          </a:xfrm>
          <a:prstGeom prst="rect">
            <a:avLst/>
          </a:prstGeom>
          <a:solidFill>
            <a:srgbClr val="252525"/>
          </a:solidFill>
          <a:ln/>
        </p:spPr>
      </p:sp>
      <p:sp>
        <p:nvSpPr>
          <p:cNvPr id="34" name="Shape 32"/>
          <p:cNvSpPr/>
          <p:nvPr/>
        </p:nvSpPr>
        <p:spPr>
          <a:xfrm>
            <a:off x="7132320" y="2468880"/>
            <a:ext cx="1188720" cy="566928"/>
          </a:xfrm>
          <a:prstGeom prst="ellipse">
            <a:avLst/>
          </a:prstGeom>
          <a:solidFill>
            <a:srgbClr val="3A3A3A"/>
          </a:solidFill>
          <a:ln/>
        </p:spPr>
      </p:sp>
      <p:sp>
        <p:nvSpPr>
          <p:cNvPr id="35" name="Shape 33"/>
          <p:cNvSpPr/>
          <p:nvPr/>
        </p:nvSpPr>
        <p:spPr>
          <a:xfrm>
            <a:off x="7178040" y="2313432"/>
            <a:ext cx="54864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Shape 34"/>
          <p:cNvSpPr/>
          <p:nvPr/>
        </p:nvSpPr>
        <p:spPr>
          <a:xfrm>
            <a:off x="4846320" y="3383280"/>
            <a:ext cx="3931920" cy="20116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33832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11827"/>
                </a:solidFill>
              </a:rPr>
              <a:t>Popular Products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882896" y="3611880"/>
            <a:ext cx="19110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82896" y="3611880"/>
            <a:ext cx="384048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Shape 38"/>
          <p:cNvSpPr/>
          <p:nvPr/>
        </p:nvSpPr>
        <p:spPr>
          <a:xfrm>
            <a:off x="4965192" y="3739896"/>
            <a:ext cx="219456" cy="201168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0" y="3648456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11827"/>
                </a:solidFill>
              </a:rPr>
              <a:t>Air Jordan 1 High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303520" y="38496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6,419₴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830568" y="3611880"/>
            <a:ext cx="19110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30568" y="3611880"/>
            <a:ext cx="384048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Shape 43"/>
          <p:cNvSpPr/>
          <p:nvPr/>
        </p:nvSpPr>
        <p:spPr>
          <a:xfrm>
            <a:off x="6912864" y="3739896"/>
            <a:ext cx="219456" cy="201168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46" name="Text 44"/>
          <p:cNvSpPr/>
          <p:nvPr/>
        </p:nvSpPr>
        <p:spPr>
          <a:xfrm>
            <a:off x="7251192" y="3648456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11827"/>
                </a:solidFill>
              </a:rPr>
              <a:t>Adidas Ultra Boost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7251192" y="384962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8,200₴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882896" y="4142232"/>
            <a:ext cx="19110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82896" y="4142232"/>
            <a:ext cx="384048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Shape 48"/>
          <p:cNvSpPr/>
          <p:nvPr/>
        </p:nvSpPr>
        <p:spPr>
          <a:xfrm>
            <a:off x="4965192" y="4270248"/>
            <a:ext cx="219456" cy="201168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51" name="Text 49"/>
          <p:cNvSpPr/>
          <p:nvPr/>
        </p:nvSpPr>
        <p:spPr>
          <a:xfrm>
            <a:off x="5303520" y="417880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11827"/>
                </a:solidFill>
              </a:rPr>
              <a:t>Yeezy 500 Salt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5303520" y="4379976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7,100₴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830568" y="4142232"/>
            <a:ext cx="191109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30568" y="4142232"/>
            <a:ext cx="384048" cy="47548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5" name="Shape 53"/>
          <p:cNvSpPr/>
          <p:nvPr/>
        </p:nvSpPr>
        <p:spPr>
          <a:xfrm>
            <a:off x="6912864" y="4270248"/>
            <a:ext cx="219456" cy="201168"/>
          </a:xfrm>
          <a:prstGeom prst="ellipse">
            <a:avLst/>
          </a:prstGeom>
          <a:solidFill>
            <a:srgbClr val="D1D5DB"/>
          </a:solidFill>
          <a:ln/>
        </p:spPr>
      </p:sp>
      <p:sp>
        <p:nvSpPr>
          <p:cNvPr id="56" name="Text 54"/>
          <p:cNvSpPr/>
          <p:nvPr/>
        </p:nvSpPr>
        <p:spPr>
          <a:xfrm>
            <a:off x="7251192" y="4178808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11827"/>
                </a:solidFill>
              </a:rPr>
              <a:t>Nike Dunk Low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7251192" y="4379976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5,900₴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Industry: E-Commerce · Fashion &amp; Sportswear · Multi-Brand Retail  |  Project Type: Web Development + SEO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3662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4136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THE CHALLENGE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Building on a Glass Foundation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A new store, a complex catalog, and zero organic history — every decision had to be right from day 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Organic History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Brand-new domain with zero SEO signals, no backlinks, and no indexed pages. Every ranking had to be earned from scratch.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46704" y="157276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11296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Duplicate SKU Crisis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11296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Each shoe size was stored as a separate product — 100 models x 5 sizes = 500 separate listings. Disastrous for UX and SEO.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6208" y="157276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CRM Sync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Client needed KeepinCRM to control inventory with automatic sync to OpenCart — a bidirectional data flow requiring careful design.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9008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Bilingual Catalog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All product data, filters, and metadata needed in both Ukrainian and Russian — with standardized dropdowns, not free-text entry.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46704" y="299008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11296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SEO-Integrated Development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11296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Technical SEO requirements (hreflang, canonical, Schema.org, URL structure) had to be baked in during build, not retrofitted post-launch.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36208" y="299008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Existing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GA4, GTM, and GSC all had to be configured from scratch with a fully working ecommerce tracking layer before first traffic arrived.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Every challenge was addressed before launch. The result: a site that ranked from day one.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86661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2086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1 · DEVELOPMENT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OpenCart Build &amp; UI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Full development from mockup audit through CRM-ready 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36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Mock-up Audit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Analysed design files before a single line of code was written. Identified structural issues, missing UI states, and device responsiveness gaps.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7744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41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UI Gap Fixes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679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Added missing language switcher dropdown, cart/wishlist item counters in the header, and a product review form on product pages.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8211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UX Restructure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4838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Proposed 3-column review grid, product images in review listings, and moved the "Add Review" action to product cards only.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8678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50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Variant Architecture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2885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Redesigned product data model: 5 separate size SKUs -&gt; 1 parent card with size/color as modifications. Eliminated catalog bloat.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508760"/>
            <a:ext cx="3931920" cy="32735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508760"/>
            <a:ext cx="3931920" cy="27432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1600200"/>
            <a:ext cx="91440" cy="91440"/>
          </a:xfrm>
          <a:prstGeom prst="ellipse">
            <a:avLst/>
          </a:prstGeom>
          <a:solidFill>
            <a:srgbClr val="E55555"/>
          </a:solidFill>
          <a:ln/>
        </p:spPr>
      </p:sp>
      <p:sp>
        <p:nvSpPr>
          <p:cNvPr id="25" name="Shape 23"/>
          <p:cNvSpPr/>
          <p:nvPr/>
        </p:nvSpPr>
        <p:spPr>
          <a:xfrm>
            <a:off x="5102352" y="160020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Shape 24"/>
          <p:cNvSpPr/>
          <p:nvPr/>
        </p:nvSpPr>
        <p:spPr>
          <a:xfrm>
            <a:off x="5266944" y="1600200"/>
            <a:ext cx="91440" cy="91440"/>
          </a:xfrm>
          <a:prstGeom prst="ellipse">
            <a:avLst/>
          </a:prstGeom>
          <a:solidFill>
            <a:srgbClr val="27C03A"/>
          </a:solidFill>
          <a:ln/>
        </p:spPr>
      </p:sp>
      <p:sp>
        <p:nvSpPr>
          <p:cNvPr id="27" name="Shape 25"/>
          <p:cNvSpPr/>
          <p:nvPr/>
        </p:nvSpPr>
        <p:spPr>
          <a:xfrm>
            <a:off x="5394960" y="1563624"/>
            <a:ext cx="3273552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156362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</a:rPr>
              <a:t>gkit.com.ua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4846320" y="1783080"/>
            <a:ext cx="39319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1783080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74151"/>
                </a:solidFill>
              </a:rPr>
              <a:t>GKIT  |  Men  Women  Kids  Accessories  Brands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937760" y="20574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Home / Footwear / Men's Sneakers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937760" y="22037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Men's Sneakers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01184" y="2459736"/>
            <a:ext cx="188366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01184" y="2459736"/>
            <a:ext cx="1883664" cy="46488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5" name="Shape 33"/>
          <p:cNvSpPr/>
          <p:nvPr/>
        </p:nvSpPr>
        <p:spPr>
          <a:xfrm>
            <a:off x="5372100" y="2534717"/>
            <a:ext cx="941832" cy="284927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4956048" y="2939613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11827"/>
                </a:solidFill>
              </a:rPr>
              <a:t>Nike Dunk Low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956048" y="3104205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5,900₴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839712" y="2459736"/>
            <a:ext cx="188366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39712" y="2459736"/>
            <a:ext cx="1883664" cy="46488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0628" y="2534717"/>
            <a:ext cx="941832" cy="284927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6894576" y="2939613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11827"/>
                </a:solidFill>
              </a:rPr>
              <a:t>Air Jordan 1 High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894576" y="3104205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6,419₴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901184" y="3264408"/>
            <a:ext cx="188366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901184" y="3264408"/>
            <a:ext cx="1883664" cy="46488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Shape 43"/>
          <p:cNvSpPr/>
          <p:nvPr/>
        </p:nvSpPr>
        <p:spPr>
          <a:xfrm>
            <a:off x="5372100" y="3339389"/>
            <a:ext cx="941832" cy="284927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4956048" y="3744285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11827"/>
                </a:solidFill>
              </a:rPr>
              <a:t>Yeezy 500 Salt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4956048" y="3908877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7,100₴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839712" y="3264408"/>
            <a:ext cx="1883664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39712" y="3264408"/>
            <a:ext cx="1883664" cy="46488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0" name="Shape 48"/>
          <p:cNvSpPr/>
          <p:nvPr/>
        </p:nvSpPr>
        <p:spPr>
          <a:xfrm>
            <a:off x="7310628" y="3339389"/>
            <a:ext cx="941832" cy="284927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51" name="Text 49"/>
          <p:cNvSpPr/>
          <p:nvPr/>
        </p:nvSpPr>
        <p:spPr>
          <a:xfrm>
            <a:off x="6894576" y="3744285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11827"/>
                </a:solidFill>
              </a:rPr>
              <a:t>Adidas Ultra Boost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894576" y="3908877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D9488"/>
                </a:solidFill>
              </a:rPr>
              <a:t>8,200₴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Result: clean architecture, SEO-ready from the first commit.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42316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2 · CRM INTEGRATION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KeepinCRM &lt;-&gt; OpenCart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Designing bidirectional data flow so the CRM is the single source of truth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194560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84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KeepinCRM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Inventory · Pricing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Product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874520"/>
            <a:ext cx="2194560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984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OpenCart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Storefront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Product pages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0" y="1874520"/>
            <a:ext cx="2194560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984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Browse · Cart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Checkout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51760" y="2267712"/>
            <a:ext cx="82296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578608" y="208483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Product sync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(CRM -&gt; Site)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651760" y="2496312"/>
            <a:ext cx="82296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2578608" y="26517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Orders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(Site -&gt; CRM)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69280" y="2313432"/>
            <a:ext cx="82296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2724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2724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Parent + Variations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342900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One product card per model. Sizes &amp; colors as OpenCart modifications — eliminating 80%+ of duplicate SKUs.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312724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12724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Sync Marker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83480" y="342900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Each CRM product has an "Update to site?" toggle. Changes only push when the manager explicitly enables sync.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90448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90448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Field Standardisation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420624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All filter attributes (Type, Season, Collection, Purpose) use dropdown fields — preventing free-text typos from creating garbage filters.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390448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90448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CDN for Media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83480" y="420624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Product images stored on CDN (bunny.net). CRM stores URLs only. Browser fetches images from nearest edge node.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CRM as the single source of truth — inventory, pricing, and product data flow automatically to the storefront.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25491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2254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3 · TECHNICAL SEO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SEO-Ready Architecture, Built Before Launch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Technical audit delivered before go-live, not as a post-launch patch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36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SSL &amp; HTTPS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HTTPS enforced with 301 redirect from HTTP on every URL. Prerequisite for all crawling and ranking.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7276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636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hreflang Tags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Ukrainian (uk) and Russian (ru) versions linked with correct x-default. No duplicate content penalty.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68296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68296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URL Structure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2670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Hyphenated slugs, no Cyrillic, consistent trailing slashes. Filter URLs use human-readable format.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368296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368296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Schema.org Markup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2670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Product, BreadcrumbList, and Organization types implemented. Rich snippets ready on day one.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163824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16382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27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Canonicals &amp; Indexation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34655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Filter pages use canonical to parent category. Cart, checkout, and search results marked noindex.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3163824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16382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227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Image Optimisation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83480" y="34655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WebP format, lazy loading, descriptive ALT attributes. All product images optimised at import.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959352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95935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Competitor Analysis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42611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4 key competitors mapped (yesoriginal, allstars, answear, prm). Link strategy and filter indexation logic derived from their best practices.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3959352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95935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Sitemap &amp; Robots.txt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83480" y="42611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Sitemap generated post-launch. Robots.txt configured to allow crawling of all indexed pages and block all tech pages.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Full tech audit completed before release. Zero technical debt handed to the organic channel.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918411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9184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4 · ANALYTICS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Full Measurement Stack — Configured Before First Visit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GA4 + GTM + GSC implemented, tested, and verified. Ecommerce tracking live on launch 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65176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2651760" cy="5029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93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GA4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664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Google Analytics 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21284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Data stream configured with measurement ID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303580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962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Ecommerce module: product impressions, add-to-cart, purchases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78561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71246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First test transactions recorded in GA4 before go-live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10128" y="1572768"/>
            <a:ext cx="265176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10128" y="1572768"/>
            <a:ext cx="2651760" cy="5029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18" name="Text 16"/>
          <p:cNvSpPr/>
          <p:nvPr/>
        </p:nvSpPr>
        <p:spPr>
          <a:xfrm>
            <a:off x="3447288" y="16093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GTM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15968" y="1664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Google Tag Manager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93008" y="228600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694176" y="221284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Container installed across all site pages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93008" y="303580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694176" y="2962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All marketing tags managed without developer intervention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93008" y="378561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694176" y="371246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Ecommerce data layer structured for GA4 events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1572768"/>
            <a:ext cx="265176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1572768"/>
            <a:ext cx="2651760" cy="5029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0216" y="16093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GSC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68896" y="1664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Google Search Console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45936" y="228600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547104" y="221284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Property verified via HTML file upload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45936" y="303580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547104" y="2962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Sitemap submitted post-launch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45936" y="378561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6547104" y="371246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Indexed coverage tracked from day 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217070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63600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  Ecommerce transactions recording in GA4    GSC ownership verified    GTM container optimised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Measurement-first approach — every click, session, and conversion tracked from launch.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Month 1 Organic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March 2026 — first full month after launch. All data from Google Search Console &amp; GA4.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2697480" cy="82296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536192"/>
            <a:ext cx="25511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2,600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6344" y="1925726"/>
            <a:ext cx="25877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Impressions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19272" y="1481328"/>
            <a:ext cx="2697480" cy="82296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92424" y="1536192"/>
            <a:ext cx="25511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74136" y="1925726"/>
            <a:ext cx="25877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Clicks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27064" y="1481328"/>
            <a:ext cx="2697480" cy="82296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0216" y="1536192"/>
            <a:ext cx="25511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81928" y="1925726"/>
            <a:ext cx="25877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Sessions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377440"/>
            <a:ext cx="2697480" cy="71323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2432304"/>
            <a:ext cx="255117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1.6%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" y="2762585"/>
            <a:ext cx="258775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Click-Through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Rate (CTR)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19272" y="2377440"/>
            <a:ext cx="2697480" cy="71323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92424" y="2432304"/>
            <a:ext cx="255117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#24.3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74136" y="2762585"/>
            <a:ext cx="258775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Average 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Position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27064" y="2377440"/>
            <a:ext cx="2697480" cy="71323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0216" y="2432304"/>
            <a:ext cx="255117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58.82%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81928" y="2762585"/>
            <a:ext cx="258775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Session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Engagement Rate</a:t>
            </a:r>
            <a:endParaRPr lang="en-US" sz="8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11480" y="3163824"/>
          <a:ext cx="8321040" cy="15179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New store ranking page 3 average within weeks of launch — impressions +50x, upward trajectory confirmed.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4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27432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-27432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-27432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-27432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-27432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-27432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-27432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-27432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68580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68580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68580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8580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68580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68580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68580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68580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64592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164592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164592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164592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164592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164592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164592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164592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260604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260604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2700000">
            <a:off x="260604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700000">
            <a:off x="260604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260604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260604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260604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260604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356616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700000">
            <a:off x="356616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356616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356616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700000">
            <a:off x="356616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356616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700000">
            <a:off x="356616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356616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700000">
            <a:off x="452628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2700000">
            <a:off x="452628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700000">
            <a:off x="452628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2700000">
            <a:off x="452628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700000">
            <a:off x="452628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2700000">
            <a:off x="452628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700000">
            <a:off x="452628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2700000">
            <a:off x="452628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2700000">
            <a:off x="548640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700000">
            <a:off x="548640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700000">
            <a:off x="548640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2700000">
            <a:off x="548640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700000">
            <a:off x="548640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2700000">
            <a:off x="548640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2700000">
            <a:off x="548640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2700000">
            <a:off x="548640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2700000">
            <a:off x="644652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2700000">
            <a:off x="644652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2700000">
            <a:off x="644652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2700000">
            <a:off x="644652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2700000">
            <a:off x="644652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2700000">
            <a:off x="644652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644652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2700000">
            <a:off x="644652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2700000">
            <a:off x="740664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2700000">
            <a:off x="740664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2700000">
            <a:off x="740664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2700000">
            <a:off x="740664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2700000">
            <a:off x="740664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2700000">
            <a:off x="740664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2700000">
            <a:off x="740664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2700000">
            <a:off x="740664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2700000">
            <a:off x="836676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2700000">
            <a:off x="836676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2700000">
            <a:off x="836676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2700000">
            <a:off x="836676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2700000">
            <a:off x="836676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2700000">
            <a:off x="836676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2700000">
            <a:off x="836676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2700000">
            <a:off x="836676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1E4848">
              <a:alpha val="85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ITForce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7635240" y="32004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635240" y="3200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E-Commerce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7790688" y="621792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90688" y="62179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OpenCart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7013448" y="923544"/>
            <a:ext cx="1673352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013448" y="923544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SEO-Integrated Dev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7324344" y="1225296"/>
            <a:ext cx="1362456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24344" y="1225296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Fashion Retail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365760" y="91440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Right.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Launched Right.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 from Day One.</a:t>
            </a:r>
            <a:endParaRPr lang="en-US" sz="3000" dirty="0"/>
          </a:p>
        </p:txBody>
      </p:sp>
      <p:sp>
        <p:nvSpPr>
          <p:cNvPr id="93" name="Shape 91"/>
          <p:cNvSpPr/>
          <p:nvPr/>
        </p:nvSpPr>
        <p:spPr>
          <a:xfrm>
            <a:off x="365760" y="278892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4" name="Text 92"/>
          <p:cNvSpPr/>
          <p:nvPr/>
        </p:nvSpPr>
        <p:spPr>
          <a:xfrm>
            <a:off x="566928" y="26974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Full OpenCart development with SEO-ready architecture from mockup stage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365760" y="320954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6" name="Text 94"/>
          <p:cNvSpPr/>
          <p:nvPr/>
        </p:nvSpPr>
        <p:spPr>
          <a:xfrm>
            <a:off x="566928" y="31181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KeepinCRM integration with bidirectional product &amp; order sync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365760" y="363016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8" name="Text 96"/>
          <p:cNvSpPr/>
          <p:nvPr/>
        </p:nvSpPr>
        <p:spPr>
          <a:xfrm>
            <a:off x="566928" y="35387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Complete technical SEO: hreflang, Schema.org, canonical, URL rules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365760" y="405079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0" name="Text 98"/>
          <p:cNvSpPr/>
          <p:nvPr/>
        </p:nvSpPr>
        <p:spPr>
          <a:xfrm>
            <a:off x="566928" y="39593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GA4 + GTM + GSC configured — ecommerce tracking live on launch day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65760" y="447141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2" name="Text 100"/>
          <p:cNvSpPr/>
          <p:nvPr/>
        </p:nvSpPr>
        <p:spPr>
          <a:xfrm>
            <a:off x="566928" y="43799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Position 24.3 average with confirmed upward trend in Month 1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02A2A"/>
          </a:solidFill>
          <a:ln/>
        </p:spPr>
      </p:sp>
      <p:sp>
        <p:nvSpPr>
          <p:cNvPr id="104" name="Text 102"/>
          <p:cNvSpPr/>
          <p:nvPr/>
        </p:nvSpPr>
        <p:spPr>
          <a:xfrm>
            <a:off x="365760" y="470001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ADAD"/>
                </a:solidFill>
              </a:rPr>
              <a:t>ITForce  ·  itforce.ua  ·  Google Ads Premier Partner  ·  Shopify Partner  ·  91 Case Studies Published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GKit – OpenCart Store Build + SEO Launch</dc:title>
  <dc:subject>PptxGenJS Presentation</dc:subject>
  <dc:creator>ITForce</dc:creator>
  <cp:lastModifiedBy>ITForce</cp:lastModifiedBy>
  <cp:revision>1</cp:revision>
  <dcterms:created xsi:type="dcterms:W3CDTF">2026-06-13T17:54:00Z</dcterms:created>
  <dcterms:modified xsi:type="dcterms:W3CDTF">2026-06-13T17:54:00Z</dcterms:modified>
</cp:coreProperties>
</file>